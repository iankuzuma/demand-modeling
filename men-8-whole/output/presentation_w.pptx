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9" r:id="rId21"/>
    <p:sldId id="261" r:id="rId13"/>
    <p:sldId id="262" r:id="rId14"/>
    <p:sldId id="270" r:id="rId22"/>
    <p:sldId id="263" r:id="rId15"/>
    <p:sldId id="271" r:id="rId23"/>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Keepa is our data source since Amazon doesn't provide historical sales data.</a:t>
            </a:r>
          </a:p>
          <a:p>
            <a:r>
              <a:t>We scraped 7 batches to work within Colab session and API rate limits.</a:t>
            </a:r>
          </a:p>
          <a:p>
            <a:r>
              <a:t>The date window was extended to March 2026 (from Jan 2026) to avoid needing backfill.</a:t>
            </a:r>
          </a:p>
          <a:p>
            <a:r>
              <a:t>Both genders are in the same raw dataset, split during data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pipelines use identical methodology. Jan/Feb 2025 data is used as forward-fill seed, then trimmed to March onwards.</a:t>
            </a:r>
          </a:p>
          <a:p>
            <a:r>
              <a:t>Men's dataset is smaller (2,061 vs 5,147) with very different subcategory distributions.</a:t>
            </a:r>
          </a:p>
          <a:p>
            <a:r>
              <a:t>Where women have Pumps and Heeled Sandals, men have Oxfords and Golf shoes.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jpg"/><Relationship Id="rId9" Type="http://schemas.openxmlformats.org/officeDocument/2006/relationships/image" Target="../media/image7.jpg"/><Relationship Id="rId10"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7.jp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Rectangle 1"/>
          <p:cNvSpPr/>
          <p:nvPr/>
        </p:nvSpPr>
        <p:spPr>
          <a:xfrm>
            <a:off x="0" y="0"/>
            <a:ext cx="12191695" cy="3840480"/>
          </a:xfrm>
          <a:prstGeom prst="rect">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315200" cy="1097280"/>
          </a:xfrm>
          <a:prstGeom prst="rect">
            <a:avLst/>
          </a:prstGeom>
          <a:noFill/>
        </p:spPr>
        <p:txBody>
          <a:bodyPr wrap="square">
            <a:spAutoFit/>
          </a:bodyPr>
          <a:lstStyle/>
          <a:p>
            <a:pPr algn="l">
              <a:defRPr sz="4400" b="1" i="0">
                <a:solidFill>
                  <a:srgbClr val="FFFFFF"/>
                </a:solidFill>
                <a:latin typeface="Calibri"/>
              </a:defRPr>
            </a:pPr>
            <a:r>
              <a:t>Dynamic Demand Modeling</a:t>
            </a:r>
            <a:br/>
            <a:r>
              <a:t>Using Multimodal AI</a:t>
            </a:r>
          </a:p>
        </p:txBody>
      </p:sp>
      <p:sp>
        <p:nvSpPr>
          <p:cNvPr id="4" name="TextBox 3"/>
          <p:cNvSpPr txBox="1"/>
          <p:nvPr/>
        </p:nvSpPr>
        <p:spPr>
          <a:xfrm>
            <a:off x="731520" y="2286000"/>
            <a:ext cx="8229600" cy="731520"/>
          </a:xfrm>
          <a:prstGeom prst="rect">
            <a:avLst/>
          </a:prstGeom>
          <a:noFill/>
        </p:spPr>
        <p:txBody>
          <a:bodyPr wrap="square">
            <a:spAutoFit/>
          </a:bodyPr>
          <a:lstStyle/>
          <a:p>
            <a:pPr algn="l">
              <a:defRPr sz="2000" b="0" i="0">
                <a:solidFill>
                  <a:srgbClr val="FFE0C0"/>
                </a:solidFill>
                <a:latin typeface="Calibri"/>
              </a:defRPr>
            </a:pPr>
            <a:r>
              <a:t>Price Elasticity Estimation for Amazon Shoes</a:t>
            </a:r>
            <a:br/>
            <a:r>
              <a:t>via Deep Embeddings and Double Machine Learning</a:t>
            </a:r>
          </a:p>
        </p:txBody>
      </p:sp>
      <p:pic>
        <p:nvPicPr>
          <p:cNvPr id="5" name="Picture 4" descr="amazon_logo.png"/>
          <p:cNvPicPr>
            <a:picLocks noChangeAspect="1"/>
          </p:cNvPicPr>
          <p:nvPr/>
        </p:nvPicPr>
        <p:blipFill>
          <a:blip r:embed="rId2"/>
          <a:stretch>
            <a:fillRect/>
          </a:stretch>
        </p:blipFill>
        <p:spPr>
          <a:xfrm>
            <a:off x="9601200" y="457200"/>
            <a:ext cx="2011680" cy="607174"/>
          </a:xfrm>
          <a:prstGeom prst="rect">
            <a:avLst/>
          </a:prstGeom>
        </p:spPr>
      </p:pic>
      <p:pic>
        <p:nvPicPr>
          <p:cNvPr id="6" name="Picture 5" descr="shoe_0.jpg"/>
          <p:cNvPicPr>
            <a:picLocks noChangeAspect="1"/>
          </p:cNvPicPr>
          <p:nvPr/>
        </p:nvPicPr>
        <p:blipFill>
          <a:blip r:embed="rId3"/>
          <a:stretch>
            <a:fillRect/>
          </a:stretch>
        </p:blipFill>
        <p:spPr>
          <a:xfrm>
            <a:off x="274320" y="2926080"/>
            <a:ext cx="1645920" cy="1645920"/>
          </a:xfrm>
          <a:prstGeom prst="rect">
            <a:avLst/>
          </a:prstGeom>
        </p:spPr>
      </p:pic>
      <p:pic>
        <p:nvPicPr>
          <p:cNvPr id="7" name="Picture 6" descr="shoe_1.jpg"/>
          <p:cNvPicPr>
            <a:picLocks noChangeAspect="1"/>
          </p:cNvPicPr>
          <p:nvPr/>
        </p:nvPicPr>
        <p:blipFill>
          <a:blip r:embed="rId4"/>
          <a:stretch>
            <a:fillRect/>
          </a:stretch>
        </p:blipFill>
        <p:spPr>
          <a:xfrm>
            <a:off x="2240279" y="2926080"/>
            <a:ext cx="1645920" cy="1645920"/>
          </a:xfrm>
          <a:prstGeom prst="rect">
            <a:avLst/>
          </a:prstGeom>
        </p:spPr>
      </p:pic>
      <p:pic>
        <p:nvPicPr>
          <p:cNvPr id="8" name="Picture 7" descr="shoe_2.jpg"/>
          <p:cNvPicPr>
            <a:picLocks noChangeAspect="1"/>
          </p:cNvPicPr>
          <p:nvPr/>
        </p:nvPicPr>
        <p:blipFill>
          <a:blip r:embed="rId5"/>
          <a:stretch>
            <a:fillRect/>
          </a:stretch>
        </p:blipFill>
        <p:spPr>
          <a:xfrm>
            <a:off x="4206240" y="2926080"/>
            <a:ext cx="1645920" cy="1645920"/>
          </a:xfrm>
          <a:prstGeom prst="rect">
            <a:avLst/>
          </a:prstGeom>
        </p:spPr>
      </p:pic>
      <p:pic>
        <p:nvPicPr>
          <p:cNvPr id="9" name="Picture 8" descr="shoe_3.jpg"/>
          <p:cNvPicPr>
            <a:picLocks noChangeAspect="1"/>
          </p:cNvPicPr>
          <p:nvPr/>
        </p:nvPicPr>
        <p:blipFill>
          <a:blip r:embed="rId6"/>
          <a:stretch>
            <a:fillRect/>
          </a:stretch>
        </p:blipFill>
        <p:spPr>
          <a:xfrm>
            <a:off x="6172199" y="2926080"/>
            <a:ext cx="1645920" cy="1645920"/>
          </a:xfrm>
          <a:prstGeom prst="rect">
            <a:avLst/>
          </a:prstGeom>
        </p:spPr>
      </p:pic>
      <p:pic>
        <p:nvPicPr>
          <p:cNvPr id="10" name="Picture 9" descr="shoe_4.jpg"/>
          <p:cNvPicPr>
            <a:picLocks noChangeAspect="1"/>
          </p:cNvPicPr>
          <p:nvPr/>
        </p:nvPicPr>
        <p:blipFill>
          <a:blip r:embed="rId7"/>
          <a:stretch>
            <a:fillRect/>
          </a:stretch>
        </p:blipFill>
        <p:spPr>
          <a:xfrm>
            <a:off x="8138160" y="2926080"/>
            <a:ext cx="1645920" cy="1645920"/>
          </a:xfrm>
          <a:prstGeom prst="rect">
            <a:avLst/>
          </a:prstGeom>
        </p:spPr>
      </p:pic>
      <p:pic>
        <p:nvPicPr>
          <p:cNvPr id="11" name="Picture 10" descr="shoe_5.jpg"/>
          <p:cNvPicPr>
            <a:picLocks noChangeAspect="1"/>
          </p:cNvPicPr>
          <p:nvPr/>
        </p:nvPicPr>
        <p:blipFill>
          <a:blip r:embed="rId8"/>
          <a:stretch>
            <a:fillRect/>
          </a:stretch>
        </p:blipFill>
        <p:spPr>
          <a:xfrm>
            <a:off x="10104120" y="2926080"/>
            <a:ext cx="1645920" cy="1645920"/>
          </a:xfrm>
          <a:prstGeom prst="rect">
            <a:avLst/>
          </a:prstGeom>
        </p:spPr>
      </p:pic>
      <p:sp>
        <p:nvSpPr>
          <p:cNvPr id="12" name="TextBox 11"/>
          <p:cNvSpPr txBox="1"/>
          <p:nvPr/>
        </p:nvSpPr>
        <p:spPr>
          <a:xfrm>
            <a:off x="731520" y="4846320"/>
            <a:ext cx="10058400" cy="457200"/>
          </a:xfrm>
          <a:prstGeom prst="rect">
            <a:avLst/>
          </a:prstGeom>
          <a:noFill/>
        </p:spPr>
        <p:txBody>
          <a:bodyPr wrap="square">
            <a:spAutoFit/>
          </a:bodyPr>
          <a:lstStyle/>
          <a:p>
            <a:pPr algn="l">
              <a:defRPr sz="2200" b="1" i="0">
                <a:solidFill>
                  <a:srgbClr val="2C2C2C"/>
                </a:solidFill>
                <a:latin typeface="Calibri"/>
              </a:defRPr>
            </a:pPr>
            <a:r>
              <a:t>Billy  |  Ian  |  Yuhui  |  Jyoti</a:t>
            </a:r>
          </a:p>
        </p:txBody>
      </p:sp>
      <p:sp>
        <p:nvSpPr>
          <p:cNvPr id="13" name="TextBox 12"/>
          <p:cNvSpPr txBox="1"/>
          <p:nvPr/>
        </p:nvSpPr>
        <p:spPr>
          <a:xfrm>
            <a:off x="731520" y="5303520"/>
            <a:ext cx="10058400" cy="365760"/>
          </a:xfrm>
          <a:prstGeom prst="rect">
            <a:avLst/>
          </a:prstGeom>
          <a:noFill/>
        </p:spPr>
        <p:txBody>
          <a:bodyPr wrap="square">
            <a:spAutoFit/>
          </a:bodyPr>
          <a:lstStyle/>
          <a:p>
            <a:pPr algn="l">
              <a:defRPr sz="1800" b="0" i="0">
                <a:solidFill>
                  <a:srgbClr val="909090"/>
                </a:solidFill>
                <a:latin typeface="Calibri"/>
              </a:defRPr>
            </a:pPr>
            <a:r>
              <a:t>Advisor: Guy</a:t>
            </a:r>
          </a:p>
        </p:txBody>
      </p:sp>
      <p:sp>
        <p:nvSpPr>
          <p:cNvPr id="14" name="TextBox 13"/>
          <p:cNvSpPr txBox="1"/>
          <p:nvPr/>
        </p:nvSpPr>
        <p:spPr>
          <a:xfrm>
            <a:off x="731520" y="5943600"/>
            <a:ext cx="10058400" cy="365760"/>
          </a:xfrm>
          <a:prstGeom prst="rect">
            <a:avLst/>
          </a:prstGeom>
          <a:noFill/>
        </p:spPr>
        <p:txBody>
          <a:bodyPr wrap="square">
            <a:spAutoFit/>
          </a:bodyPr>
          <a:lstStyle/>
          <a:p>
            <a:pPr algn="l">
              <a:defRPr sz="1400" b="0" i="1">
                <a:solidFill>
                  <a:srgbClr val="909090"/>
                </a:solidFill>
                <a:latin typeface="Calibri"/>
              </a:defRPr>
            </a:pPr>
            <a:r>
              <a:t>Replication of Victor et al. (2025) "Adventures in Demand Analysis Using AI"</a:t>
            </a:r>
          </a:p>
        </p:txBody>
      </p:sp>
      <p:sp>
        <p:nvSpPr>
          <p:cNvPr id="15" name="TextBox 14"/>
          <p:cNvSpPr txBox="1"/>
          <p:nvPr/>
        </p:nvSpPr>
        <p:spPr>
          <a:xfrm>
            <a:off x="731520" y="6309360"/>
            <a:ext cx="10058400" cy="274320"/>
          </a:xfrm>
          <a:prstGeom prst="rect">
            <a:avLst/>
          </a:prstGeom>
          <a:noFill/>
        </p:spPr>
        <p:txBody>
          <a:bodyPr wrap="square">
            <a:spAutoFit/>
          </a:bodyPr>
          <a:lstStyle/>
          <a:p>
            <a:pPr algn="l">
              <a:defRPr sz="1300" b="0" i="0">
                <a:solidFill>
                  <a:srgbClr val="909090"/>
                </a:solidFill>
                <a:latin typeface="Calibri"/>
              </a:defRPr>
            </a:pPr>
            <a:r>
              <a:t>Northeastern University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Agenda</a:t>
            </a:r>
          </a:p>
        </p:txBody>
      </p:sp>
      <p:sp>
        <p:nvSpPr>
          <p:cNvPr id="4" name="Rounded Rectangle 3"/>
          <p:cNvSpPr/>
          <p:nvPr/>
        </p:nvSpPr>
        <p:spPr>
          <a:xfrm>
            <a:off x="548640" y="1188720"/>
            <a:ext cx="11064240" cy="621792"/>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271016"/>
            <a:ext cx="457200" cy="457200"/>
          </a:xfrm>
          <a:prstGeom prst="ellipse">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80160"/>
            <a:ext cx="457200" cy="457200"/>
          </a:xfrm>
          <a:prstGeom prst="rect">
            <a:avLst/>
          </a:prstGeom>
          <a:noFill/>
        </p:spPr>
        <p:txBody>
          <a:bodyPr wrap="square">
            <a:spAutoFit/>
          </a:bodyPr>
          <a:lstStyle/>
          <a:p>
            <a:pPr algn="ctr">
              <a:defRPr sz="1800" b="1" i="0">
                <a:solidFill>
                  <a:srgbClr val="FFFFFF"/>
                </a:solidFill>
                <a:latin typeface="Calibri"/>
              </a:defRPr>
            </a:pPr>
            <a:r>
              <a:t>01</a:t>
            </a:r>
          </a:p>
        </p:txBody>
      </p:sp>
      <p:sp>
        <p:nvSpPr>
          <p:cNvPr id="7" name="TextBox 6"/>
          <p:cNvSpPr txBox="1"/>
          <p:nvPr/>
        </p:nvSpPr>
        <p:spPr>
          <a:xfrm>
            <a:off x="1371600" y="1307592"/>
            <a:ext cx="9144000" cy="411480"/>
          </a:xfrm>
          <a:prstGeom prst="rect">
            <a:avLst/>
          </a:prstGeom>
          <a:noFill/>
        </p:spPr>
        <p:txBody>
          <a:bodyPr wrap="square">
            <a:spAutoFit/>
          </a:bodyPr>
          <a:lstStyle/>
          <a:p>
            <a:pPr algn="l">
              <a:defRPr sz="2000" b="1" i="0">
                <a:solidFill>
                  <a:srgbClr val="2C2C2C"/>
                </a:solidFill>
                <a:latin typeface="Calibri"/>
              </a:defRPr>
            </a:pPr>
            <a:r>
              <a:t>Data Collection from Keepa</a:t>
            </a:r>
          </a:p>
        </p:txBody>
      </p:sp>
      <p:sp>
        <p:nvSpPr>
          <p:cNvPr id="8" name="Rounded Rectangle 7"/>
          <p:cNvSpPr/>
          <p:nvPr/>
        </p:nvSpPr>
        <p:spPr>
          <a:xfrm>
            <a:off x="548640" y="1938528"/>
            <a:ext cx="11064240" cy="621792"/>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20824"/>
            <a:ext cx="457200" cy="457200"/>
          </a:xfrm>
          <a:prstGeom prst="ellipse">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29968"/>
            <a:ext cx="457200" cy="457200"/>
          </a:xfrm>
          <a:prstGeom prst="rect">
            <a:avLst/>
          </a:prstGeom>
          <a:noFill/>
        </p:spPr>
        <p:txBody>
          <a:bodyPr wrap="square">
            <a:spAutoFit/>
          </a:bodyPr>
          <a:lstStyle/>
          <a:p>
            <a:pPr algn="ctr">
              <a:defRPr sz="1800" b="1" i="0">
                <a:solidFill>
                  <a:srgbClr val="FFFFFF"/>
                </a:solidFill>
                <a:latin typeface="Calibri"/>
              </a:defRPr>
            </a:pPr>
            <a:r>
              <a:t>02</a:t>
            </a:r>
          </a:p>
        </p:txBody>
      </p:sp>
      <p:sp>
        <p:nvSpPr>
          <p:cNvPr id="11" name="TextBox 10"/>
          <p:cNvSpPr txBox="1"/>
          <p:nvPr/>
        </p:nvSpPr>
        <p:spPr>
          <a:xfrm>
            <a:off x="1371600" y="2057400"/>
            <a:ext cx="9144000" cy="411480"/>
          </a:xfrm>
          <a:prstGeom prst="rect">
            <a:avLst/>
          </a:prstGeom>
          <a:noFill/>
        </p:spPr>
        <p:txBody>
          <a:bodyPr wrap="square">
            <a:spAutoFit/>
          </a:bodyPr>
          <a:lstStyle/>
          <a:p>
            <a:pPr algn="l">
              <a:defRPr sz="2000" b="1" i="0">
                <a:solidFill>
                  <a:srgbClr val="2C2C2C"/>
                </a:solidFill>
                <a:latin typeface="Calibri"/>
              </a:defRPr>
            </a:pPr>
            <a:r>
              <a:t>EDA, Cleaning &amp; Train/Val Split</a:t>
            </a:r>
          </a:p>
        </p:txBody>
      </p:sp>
      <p:sp>
        <p:nvSpPr>
          <p:cNvPr id="12" name="Rounded Rectangle 11"/>
          <p:cNvSpPr/>
          <p:nvPr/>
        </p:nvSpPr>
        <p:spPr>
          <a:xfrm>
            <a:off x="548640" y="2688336"/>
            <a:ext cx="11064240" cy="621792"/>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2770632"/>
            <a:ext cx="457200" cy="457200"/>
          </a:xfrm>
          <a:prstGeom prst="ellipse">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779776"/>
            <a:ext cx="457200" cy="457200"/>
          </a:xfrm>
          <a:prstGeom prst="rect">
            <a:avLst/>
          </a:prstGeom>
          <a:noFill/>
        </p:spPr>
        <p:txBody>
          <a:bodyPr wrap="square">
            <a:spAutoFit/>
          </a:bodyPr>
          <a:lstStyle/>
          <a:p>
            <a:pPr algn="ctr">
              <a:defRPr sz="1800" b="1" i="0">
                <a:solidFill>
                  <a:srgbClr val="FFFFFF"/>
                </a:solidFill>
                <a:latin typeface="Calibri"/>
              </a:defRPr>
            </a:pPr>
            <a:r>
              <a:t>03</a:t>
            </a:r>
          </a:p>
        </p:txBody>
      </p:sp>
      <p:sp>
        <p:nvSpPr>
          <p:cNvPr id="15" name="TextBox 14"/>
          <p:cNvSpPr txBox="1"/>
          <p:nvPr/>
        </p:nvSpPr>
        <p:spPr>
          <a:xfrm>
            <a:off x="1371600" y="2807208"/>
            <a:ext cx="9144000" cy="411480"/>
          </a:xfrm>
          <a:prstGeom prst="rect">
            <a:avLst/>
          </a:prstGeom>
          <a:noFill/>
        </p:spPr>
        <p:txBody>
          <a:bodyPr wrap="square">
            <a:spAutoFit/>
          </a:bodyPr>
          <a:lstStyle/>
          <a:p>
            <a:pPr algn="l">
              <a:defRPr sz="2000" b="1" i="0">
                <a:solidFill>
                  <a:srgbClr val="2C2C2C"/>
                </a:solidFill>
                <a:latin typeface="Calibri"/>
              </a:defRPr>
            </a:pPr>
            <a:r>
              <a:t>Multimodal Embedding Training</a:t>
            </a:r>
          </a:p>
        </p:txBody>
      </p:sp>
      <p:sp>
        <p:nvSpPr>
          <p:cNvPr id="16" name="Rounded Rectangle 15"/>
          <p:cNvSpPr/>
          <p:nvPr/>
        </p:nvSpPr>
        <p:spPr>
          <a:xfrm>
            <a:off x="548640" y="3438144"/>
            <a:ext cx="11064240" cy="621792"/>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3520440"/>
            <a:ext cx="457200" cy="457200"/>
          </a:xfrm>
          <a:prstGeom prst="ellipse">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529584"/>
            <a:ext cx="457200" cy="457200"/>
          </a:xfrm>
          <a:prstGeom prst="rect">
            <a:avLst/>
          </a:prstGeom>
          <a:noFill/>
        </p:spPr>
        <p:txBody>
          <a:bodyPr wrap="square">
            <a:spAutoFit/>
          </a:bodyPr>
          <a:lstStyle/>
          <a:p>
            <a:pPr algn="ctr">
              <a:defRPr sz="1800" b="1" i="0">
                <a:solidFill>
                  <a:srgbClr val="FFFFFF"/>
                </a:solidFill>
                <a:latin typeface="Calibri"/>
              </a:defRPr>
            </a:pPr>
            <a:r>
              <a:t>04</a:t>
            </a:r>
          </a:p>
        </p:txBody>
      </p:sp>
      <p:sp>
        <p:nvSpPr>
          <p:cNvPr id="19" name="TextBox 18"/>
          <p:cNvSpPr txBox="1"/>
          <p:nvPr/>
        </p:nvSpPr>
        <p:spPr>
          <a:xfrm>
            <a:off x="1371600" y="3557016"/>
            <a:ext cx="9144000" cy="411480"/>
          </a:xfrm>
          <a:prstGeom prst="rect">
            <a:avLst/>
          </a:prstGeom>
          <a:noFill/>
        </p:spPr>
        <p:txBody>
          <a:bodyPr wrap="square">
            <a:spAutoFit/>
          </a:bodyPr>
          <a:lstStyle/>
          <a:p>
            <a:pPr algn="l">
              <a:defRPr sz="2000" b="1" i="0">
                <a:solidFill>
                  <a:srgbClr val="2C2C2C"/>
                </a:solidFill>
                <a:latin typeface="Calibri"/>
              </a:defRPr>
            </a:pPr>
            <a:r>
              <a:t>PCA, Clustering &amp; Feature Engineering</a:t>
            </a:r>
          </a:p>
        </p:txBody>
      </p:sp>
      <p:sp>
        <p:nvSpPr>
          <p:cNvPr id="20" name="Rounded Rectangle 19"/>
          <p:cNvSpPr/>
          <p:nvPr/>
        </p:nvSpPr>
        <p:spPr>
          <a:xfrm>
            <a:off x="548640" y="4187952"/>
            <a:ext cx="11064240" cy="621792"/>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4270248"/>
            <a:ext cx="457200" cy="457200"/>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279392"/>
            <a:ext cx="457200" cy="457200"/>
          </a:xfrm>
          <a:prstGeom prst="rect">
            <a:avLst/>
          </a:prstGeom>
          <a:noFill/>
        </p:spPr>
        <p:txBody>
          <a:bodyPr wrap="square">
            <a:spAutoFit/>
          </a:bodyPr>
          <a:lstStyle/>
          <a:p>
            <a:pPr algn="ctr">
              <a:defRPr sz="1800" b="1" i="0">
                <a:solidFill>
                  <a:srgbClr val="FFFFFF"/>
                </a:solidFill>
                <a:latin typeface="Calibri"/>
              </a:defRPr>
            </a:pPr>
            <a:r>
              <a:t>05</a:t>
            </a:r>
          </a:p>
        </p:txBody>
      </p:sp>
      <p:sp>
        <p:nvSpPr>
          <p:cNvPr id="23" name="TextBox 22"/>
          <p:cNvSpPr txBox="1"/>
          <p:nvPr/>
        </p:nvSpPr>
        <p:spPr>
          <a:xfrm>
            <a:off x="1371600" y="4306824"/>
            <a:ext cx="9144000" cy="411480"/>
          </a:xfrm>
          <a:prstGeom prst="rect">
            <a:avLst/>
          </a:prstGeom>
          <a:noFill/>
        </p:spPr>
        <p:txBody>
          <a:bodyPr wrap="square">
            <a:spAutoFit/>
          </a:bodyPr>
          <a:lstStyle/>
          <a:p>
            <a:pPr algn="l">
              <a:defRPr sz="2000" b="1" i="0">
                <a:solidFill>
                  <a:srgbClr val="2C2C2C"/>
                </a:solidFill>
                <a:latin typeface="Calibri"/>
              </a:defRPr>
            </a:pPr>
            <a:r>
              <a:t>DoubleML: Estimating Price Elasticity</a:t>
            </a:r>
          </a:p>
        </p:txBody>
      </p:sp>
      <p:sp>
        <p:nvSpPr>
          <p:cNvPr id="24" name="Rounded Rectangle 23"/>
          <p:cNvSpPr/>
          <p:nvPr/>
        </p:nvSpPr>
        <p:spPr>
          <a:xfrm>
            <a:off x="548640" y="4937759"/>
            <a:ext cx="11064240" cy="621792"/>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1520" y="5020055"/>
            <a:ext cx="457200" cy="457200"/>
          </a:xfrm>
          <a:prstGeom prst="ellipse">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029199"/>
            <a:ext cx="457200" cy="457200"/>
          </a:xfrm>
          <a:prstGeom prst="rect">
            <a:avLst/>
          </a:prstGeom>
          <a:noFill/>
        </p:spPr>
        <p:txBody>
          <a:bodyPr wrap="square">
            <a:spAutoFit/>
          </a:bodyPr>
          <a:lstStyle/>
          <a:p>
            <a:pPr algn="ctr">
              <a:defRPr sz="1800" b="1" i="0">
                <a:solidFill>
                  <a:srgbClr val="FFFFFF"/>
                </a:solidFill>
                <a:latin typeface="Calibri"/>
              </a:defRPr>
            </a:pPr>
            <a:r>
              <a:t>06</a:t>
            </a:r>
          </a:p>
        </p:txBody>
      </p:sp>
      <p:sp>
        <p:nvSpPr>
          <p:cNvPr id="27" name="TextBox 26"/>
          <p:cNvSpPr txBox="1"/>
          <p:nvPr/>
        </p:nvSpPr>
        <p:spPr>
          <a:xfrm>
            <a:off x="1371600" y="5056631"/>
            <a:ext cx="9144000" cy="411480"/>
          </a:xfrm>
          <a:prstGeom prst="rect">
            <a:avLst/>
          </a:prstGeom>
          <a:noFill/>
        </p:spPr>
        <p:txBody>
          <a:bodyPr wrap="square">
            <a:spAutoFit/>
          </a:bodyPr>
          <a:lstStyle/>
          <a:p>
            <a:pPr algn="l">
              <a:defRPr sz="2000" b="1" i="0">
                <a:solidFill>
                  <a:srgbClr val="2C2C2C"/>
                </a:solidFill>
                <a:latin typeface="Calibri"/>
              </a:defRPr>
            </a:pPr>
            <a:r>
              <a:t>Results: Women's vs Men's Comparison</a:t>
            </a:r>
          </a:p>
        </p:txBody>
      </p:sp>
      <p:sp>
        <p:nvSpPr>
          <p:cNvPr id="28" name="Rounded Rectangle 27"/>
          <p:cNvSpPr/>
          <p:nvPr/>
        </p:nvSpPr>
        <p:spPr>
          <a:xfrm>
            <a:off x="548640" y="5687568"/>
            <a:ext cx="11064240" cy="621792"/>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1520" y="5769864"/>
            <a:ext cx="457200" cy="457200"/>
          </a:xfrm>
          <a:prstGeom prst="ellipse">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779008"/>
            <a:ext cx="457200" cy="457200"/>
          </a:xfrm>
          <a:prstGeom prst="rect">
            <a:avLst/>
          </a:prstGeom>
          <a:noFill/>
        </p:spPr>
        <p:txBody>
          <a:bodyPr wrap="square">
            <a:spAutoFit/>
          </a:bodyPr>
          <a:lstStyle/>
          <a:p>
            <a:pPr algn="ctr">
              <a:defRPr sz="1800" b="1" i="0">
                <a:solidFill>
                  <a:srgbClr val="FFFFFF"/>
                </a:solidFill>
                <a:latin typeface="Calibri"/>
              </a:defRPr>
            </a:pPr>
            <a:r>
              <a:t>07</a:t>
            </a:r>
          </a:p>
        </p:txBody>
      </p:sp>
      <p:sp>
        <p:nvSpPr>
          <p:cNvPr id="31" name="TextBox 30"/>
          <p:cNvSpPr txBox="1"/>
          <p:nvPr/>
        </p:nvSpPr>
        <p:spPr>
          <a:xfrm>
            <a:off x="1371600" y="5806440"/>
            <a:ext cx="9144000" cy="411480"/>
          </a:xfrm>
          <a:prstGeom prst="rect">
            <a:avLst/>
          </a:prstGeom>
          <a:noFill/>
        </p:spPr>
        <p:txBody>
          <a:bodyPr wrap="square">
            <a:spAutoFit/>
          </a:bodyPr>
          <a:lstStyle/>
          <a:p>
            <a:pPr algn="l">
              <a:defRPr sz="2000" b="1" i="0">
                <a:solidFill>
                  <a:srgbClr val="2C2C2C"/>
                </a:solidFill>
                <a:latin typeface="Calibri"/>
              </a:defRPr>
            </a:pPr>
            <a:r>
              <a:t>Next Steps &amp; Future Directions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Data Collection</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Keepa API  |  Amazon US  |  Shoes Size 8  |  Women &amp; Men</a:t>
            </a:r>
          </a:p>
        </p:txBody>
      </p:sp>
      <p:sp>
        <p:nvSpPr>
          <p:cNvPr id="5" name="Rounded Rectangle 4"/>
          <p:cNvSpPr/>
          <p:nvPr/>
        </p:nvSpPr>
        <p:spPr>
          <a:xfrm>
            <a:off x="365760" y="1188720"/>
            <a:ext cx="5669280" cy="2743200"/>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epa_logo.png"/>
          <p:cNvPicPr>
            <a:picLocks noChangeAspect="1"/>
          </p:cNvPicPr>
          <p:nvPr/>
        </p:nvPicPr>
        <p:blipFill>
          <a:blip r:embed="rId2"/>
          <a:stretch>
            <a:fillRect/>
          </a:stretch>
        </p:blipFill>
        <p:spPr>
          <a:xfrm>
            <a:off x="548640" y="1280160"/>
            <a:ext cx="1524000" cy="457200"/>
          </a:xfrm>
          <a:prstGeom prst="rect">
            <a:avLst/>
          </a:prstGeom>
        </p:spPr>
      </p:pic>
      <p:sp>
        <p:nvSpPr>
          <p:cNvPr id="7" name="TextBox 6"/>
          <p:cNvSpPr txBox="1"/>
          <p:nvPr/>
        </p:nvSpPr>
        <p:spPr>
          <a:xfrm>
            <a:off x="548640" y="1783080"/>
            <a:ext cx="5303520" cy="274320"/>
          </a:xfrm>
          <a:prstGeom prst="rect">
            <a:avLst/>
          </a:prstGeom>
          <a:noFill/>
        </p:spPr>
        <p:txBody>
          <a:bodyPr wrap="square">
            <a:spAutoFit/>
          </a:bodyPr>
          <a:lstStyle/>
          <a:p>
            <a:pPr algn="l">
              <a:defRPr sz="1500" b="0" i="0">
                <a:solidFill>
                  <a:srgbClr val="2C2C2C"/>
                </a:solidFill>
                <a:latin typeface="Calibri"/>
              </a:defRPr>
            </a:pPr>
            <a:r>
              <a:t>Third-party Amazon price &amp; sales tracker</a:t>
            </a:r>
          </a:p>
        </p:txBody>
      </p:sp>
      <p:sp>
        <p:nvSpPr>
          <p:cNvPr id="8" name="TextBox 7"/>
          <p:cNvSpPr txBox="1"/>
          <p:nvPr/>
        </p:nvSpPr>
        <p:spPr>
          <a:xfrm>
            <a:off x="548640" y="2103120"/>
            <a:ext cx="5303520" cy="1645920"/>
          </a:xfrm>
          <a:prstGeom prst="rect">
            <a:avLst/>
          </a:prstGeom>
          <a:noFill/>
        </p:spPr>
        <p:txBody>
          <a:bodyPr wrap="square">
            <a:spAutoFit/>
          </a:bodyPr>
          <a:lstStyle/>
          <a:p>
            <a:pPr>
              <a:spcAft>
                <a:spcPts val="1000"/>
              </a:spcAft>
              <a:defRPr sz="1400">
                <a:solidFill>
                  <a:srgbClr val="2C2C2C"/>
                </a:solidFill>
                <a:latin typeface="Calibri"/>
              </a:defRPr>
            </a:pPr>
            <a:r>
              <a:t>Historical price, sales rank, Buy Box, ratings, reviews</a:t>
            </a:r>
          </a:p>
          <a:p>
            <a:pPr>
              <a:spcAft>
                <a:spcPts val="1000"/>
              </a:spcAft>
              <a:defRPr sz="1400">
                <a:solidFill>
                  <a:srgbClr val="2C2C2C"/>
                </a:solidFill>
                <a:latin typeface="Calibri"/>
              </a:defRPr>
            </a:pPr>
            <a:r>
              <a:t>Amazon does not expose this data directly</a:t>
            </a:r>
          </a:p>
          <a:p>
            <a:pPr>
              <a:spcAft>
                <a:spcPts val="1000"/>
              </a:spcAft>
              <a:defRPr sz="1400">
                <a:solidFill>
                  <a:srgbClr val="2C2C2C"/>
                </a:solidFill>
                <a:latin typeface="Calibri"/>
              </a:defRPr>
            </a:pPr>
            <a:r>
              <a:t>7 batch notebooks, split by sales rank range (1K-100K)</a:t>
            </a:r>
          </a:p>
          <a:p>
            <a:pPr>
              <a:spcAft>
                <a:spcPts val="1000"/>
              </a:spcAft>
              <a:defRPr sz="1400">
                <a:solidFill>
                  <a:srgbClr val="2C2C2C"/>
                </a:solidFill>
                <a:latin typeface="Calibri"/>
              </a:defRPr>
            </a:pPr>
            <a:r>
              <a:t>Date window: Jan 2025 to Mar 2026 (454 days)</a:t>
            </a:r>
          </a:p>
          <a:p>
            <a:pPr>
              <a:spcAft>
                <a:spcPts val="1000"/>
              </a:spcAft>
              <a:defRPr sz="1400">
                <a:solidFill>
                  <a:srgbClr val="2C2C2C"/>
                </a:solidFill>
                <a:latin typeface="Calibri"/>
              </a:defRPr>
            </a:pPr>
            <a:r>
              <a:t>Extended to Mar 2026 to avoid backfilling artifacts</a:t>
            </a:r>
          </a:p>
        </p:txBody>
      </p:sp>
      <p:sp>
        <p:nvSpPr>
          <p:cNvPr id="9" name="Rounded Rectangle 8"/>
          <p:cNvSpPr/>
          <p:nvPr/>
        </p:nvSpPr>
        <p:spPr>
          <a:xfrm>
            <a:off x="6309360" y="1188720"/>
            <a:ext cx="5486400" cy="274320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mazon_logo.png"/>
          <p:cNvPicPr>
            <a:picLocks noChangeAspect="1"/>
          </p:cNvPicPr>
          <p:nvPr/>
        </p:nvPicPr>
        <p:blipFill>
          <a:blip r:embed="rId3"/>
          <a:stretch>
            <a:fillRect/>
          </a:stretch>
        </p:blipFill>
        <p:spPr>
          <a:xfrm>
            <a:off x="6492240" y="1280160"/>
            <a:ext cx="1363310" cy="411480"/>
          </a:xfrm>
          <a:prstGeom prst="rect">
            <a:avLst/>
          </a:prstGeom>
        </p:spPr>
      </p:pic>
      <p:sp>
        <p:nvSpPr>
          <p:cNvPr id="11" name="TextBox 10"/>
          <p:cNvSpPr txBox="1"/>
          <p:nvPr/>
        </p:nvSpPr>
        <p:spPr>
          <a:xfrm>
            <a:off x="6583680" y="1828800"/>
            <a:ext cx="2560320" cy="320040"/>
          </a:xfrm>
          <a:prstGeom prst="rect">
            <a:avLst/>
          </a:prstGeom>
          <a:noFill/>
        </p:spPr>
        <p:txBody>
          <a:bodyPr wrap="square">
            <a:spAutoFit/>
          </a:bodyPr>
          <a:lstStyle/>
          <a:p>
            <a:pPr algn="l">
              <a:defRPr sz="1500" b="0" i="0">
                <a:solidFill>
                  <a:srgbClr val="909090"/>
                </a:solidFill>
                <a:latin typeface="Calibri"/>
              </a:defRPr>
            </a:pPr>
            <a:r>
              <a:t>Total ASINs</a:t>
            </a:r>
          </a:p>
        </p:txBody>
      </p:sp>
      <p:sp>
        <p:nvSpPr>
          <p:cNvPr id="12" name="TextBox 11"/>
          <p:cNvSpPr txBox="1"/>
          <p:nvPr/>
        </p:nvSpPr>
        <p:spPr>
          <a:xfrm>
            <a:off x="9144000" y="1828800"/>
            <a:ext cx="2286000" cy="320040"/>
          </a:xfrm>
          <a:prstGeom prst="rect">
            <a:avLst/>
          </a:prstGeom>
          <a:noFill/>
        </p:spPr>
        <p:txBody>
          <a:bodyPr wrap="square">
            <a:spAutoFit/>
          </a:bodyPr>
          <a:lstStyle/>
          <a:p>
            <a:pPr algn="l">
              <a:defRPr sz="1500" b="1" i="0">
                <a:solidFill>
                  <a:srgbClr val="2C2C2C"/>
                </a:solidFill>
                <a:latin typeface="Calibri"/>
              </a:defRPr>
            </a:pPr>
            <a:r>
              <a:t>7,761</a:t>
            </a:r>
          </a:p>
        </p:txBody>
      </p:sp>
      <p:sp>
        <p:nvSpPr>
          <p:cNvPr id="13" name="TextBox 12"/>
          <p:cNvSpPr txBox="1"/>
          <p:nvPr/>
        </p:nvSpPr>
        <p:spPr>
          <a:xfrm>
            <a:off x="6583680" y="2212848"/>
            <a:ext cx="2560320" cy="320040"/>
          </a:xfrm>
          <a:prstGeom prst="rect">
            <a:avLst/>
          </a:prstGeom>
          <a:noFill/>
        </p:spPr>
        <p:txBody>
          <a:bodyPr wrap="square">
            <a:spAutoFit/>
          </a:bodyPr>
          <a:lstStyle/>
          <a:p>
            <a:pPr algn="l">
              <a:defRPr sz="1500" b="0" i="0">
                <a:solidFill>
                  <a:srgbClr val="909090"/>
                </a:solidFill>
                <a:latin typeface="Calibri"/>
              </a:defRPr>
            </a:pPr>
            <a:r>
              <a:t>Total Rows</a:t>
            </a:r>
          </a:p>
        </p:txBody>
      </p:sp>
      <p:sp>
        <p:nvSpPr>
          <p:cNvPr id="14" name="TextBox 13"/>
          <p:cNvSpPr txBox="1"/>
          <p:nvPr/>
        </p:nvSpPr>
        <p:spPr>
          <a:xfrm>
            <a:off x="9144000" y="2212848"/>
            <a:ext cx="2286000" cy="320040"/>
          </a:xfrm>
          <a:prstGeom prst="rect">
            <a:avLst/>
          </a:prstGeom>
          <a:noFill/>
        </p:spPr>
        <p:txBody>
          <a:bodyPr wrap="square">
            <a:spAutoFit/>
          </a:bodyPr>
          <a:lstStyle/>
          <a:p>
            <a:pPr algn="l">
              <a:defRPr sz="1500" b="1" i="0">
                <a:solidFill>
                  <a:srgbClr val="2C2C2C"/>
                </a:solidFill>
                <a:latin typeface="Calibri"/>
              </a:defRPr>
            </a:pPr>
            <a:r>
              <a:t>1,008,930</a:t>
            </a:r>
          </a:p>
        </p:txBody>
      </p:sp>
      <p:sp>
        <p:nvSpPr>
          <p:cNvPr id="15" name="TextBox 14"/>
          <p:cNvSpPr txBox="1"/>
          <p:nvPr/>
        </p:nvSpPr>
        <p:spPr>
          <a:xfrm>
            <a:off x="6583680" y="2596896"/>
            <a:ext cx="2560320" cy="320040"/>
          </a:xfrm>
          <a:prstGeom prst="rect">
            <a:avLst/>
          </a:prstGeom>
          <a:noFill/>
        </p:spPr>
        <p:txBody>
          <a:bodyPr wrap="square">
            <a:spAutoFit/>
          </a:bodyPr>
          <a:lstStyle/>
          <a:p>
            <a:pPr algn="l">
              <a:defRPr sz="1500" b="0" i="0">
                <a:solidFill>
                  <a:srgbClr val="909090"/>
                </a:solidFill>
                <a:latin typeface="Calibri"/>
              </a:defRPr>
            </a:pPr>
            <a:r>
              <a:t>Date Range</a:t>
            </a:r>
          </a:p>
        </p:txBody>
      </p:sp>
      <p:sp>
        <p:nvSpPr>
          <p:cNvPr id="16" name="TextBox 15"/>
          <p:cNvSpPr txBox="1"/>
          <p:nvPr/>
        </p:nvSpPr>
        <p:spPr>
          <a:xfrm>
            <a:off x="9144000" y="2596896"/>
            <a:ext cx="2286000" cy="320040"/>
          </a:xfrm>
          <a:prstGeom prst="rect">
            <a:avLst/>
          </a:prstGeom>
          <a:noFill/>
        </p:spPr>
        <p:txBody>
          <a:bodyPr wrap="square">
            <a:spAutoFit/>
          </a:bodyPr>
          <a:lstStyle/>
          <a:p>
            <a:pPr algn="l">
              <a:defRPr sz="1500" b="1" i="0">
                <a:solidFill>
                  <a:srgbClr val="2C2C2C"/>
                </a:solidFill>
                <a:latin typeface="Calibri"/>
              </a:defRPr>
            </a:pPr>
            <a:r>
              <a:t>Jan 2025 - Mar 2026</a:t>
            </a:r>
          </a:p>
        </p:txBody>
      </p:sp>
      <p:sp>
        <p:nvSpPr>
          <p:cNvPr id="17" name="TextBox 16"/>
          <p:cNvSpPr txBox="1"/>
          <p:nvPr/>
        </p:nvSpPr>
        <p:spPr>
          <a:xfrm>
            <a:off x="6583680" y="2980944"/>
            <a:ext cx="2560320" cy="320040"/>
          </a:xfrm>
          <a:prstGeom prst="rect">
            <a:avLst/>
          </a:prstGeom>
          <a:noFill/>
        </p:spPr>
        <p:txBody>
          <a:bodyPr wrap="square">
            <a:spAutoFit/>
          </a:bodyPr>
          <a:lstStyle/>
          <a:p>
            <a:pPr algn="l">
              <a:defRPr sz="1500" b="0" i="0">
                <a:solidFill>
                  <a:srgbClr val="909090"/>
                </a:solidFill>
                <a:latin typeface="Calibri"/>
              </a:defRPr>
            </a:pPr>
            <a:r>
              <a:t>Women</a:t>
            </a:r>
          </a:p>
        </p:txBody>
      </p:sp>
      <p:sp>
        <p:nvSpPr>
          <p:cNvPr id="18" name="TextBox 17"/>
          <p:cNvSpPr txBox="1"/>
          <p:nvPr/>
        </p:nvSpPr>
        <p:spPr>
          <a:xfrm>
            <a:off x="9144000" y="2980944"/>
            <a:ext cx="2286000" cy="320040"/>
          </a:xfrm>
          <a:prstGeom prst="rect">
            <a:avLst/>
          </a:prstGeom>
          <a:noFill/>
        </p:spPr>
        <p:txBody>
          <a:bodyPr wrap="square">
            <a:spAutoFit/>
          </a:bodyPr>
          <a:lstStyle/>
          <a:p>
            <a:pPr algn="l">
              <a:defRPr sz="1500" b="1" i="0">
                <a:solidFill>
                  <a:srgbClr val="2C2C2C"/>
                </a:solidFill>
                <a:latin typeface="Calibri"/>
              </a:defRPr>
            </a:pPr>
            <a:r>
              <a:t>5,472 ASINs</a:t>
            </a:r>
          </a:p>
        </p:txBody>
      </p:sp>
      <p:sp>
        <p:nvSpPr>
          <p:cNvPr id="19" name="TextBox 18"/>
          <p:cNvSpPr txBox="1"/>
          <p:nvPr/>
        </p:nvSpPr>
        <p:spPr>
          <a:xfrm>
            <a:off x="6583680" y="3364991"/>
            <a:ext cx="2560320" cy="320040"/>
          </a:xfrm>
          <a:prstGeom prst="rect">
            <a:avLst/>
          </a:prstGeom>
          <a:noFill/>
        </p:spPr>
        <p:txBody>
          <a:bodyPr wrap="square">
            <a:spAutoFit/>
          </a:bodyPr>
          <a:lstStyle/>
          <a:p>
            <a:pPr algn="l">
              <a:defRPr sz="1500" b="0" i="0">
                <a:solidFill>
                  <a:srgbClr val="909090"/>
                </a:solidFill>
                <a:latin typeface="Calibri"/>
              </a:defRPr>
            </a:pPr>
            <a:r>
              <a:t>Men</a:t>
            </a:r>
          </a:p>
        </p:txBody>
      </p:sp>
      <p:sp>
        <p:nvSpPr>
          <p:cNvPr id="20" name="TextBox 19"/>
          <p:cNvSpPr txBox="1"/>
          <p:nvPr/>
        </p:nvSpPr>
        <p:spPr>
          <a:xfrm>
            <a:off x="9144000" y="3364991"/>
            <a:ext cx="2286000" cy="320040"/>
          </a:xfrm>
          <a:prstGeom prst="rect">
            <a:avLst/>
          </a:prstGeom>
          <a:noFill/>
        </p:spPr>
        <p:txBody>
          <a:bodyPr wrap="square">
            <a:spAutoFit/>
          </a:bodyPr>
          <a:lstStyle/>
          <a:p>
            <a:pPr algn="l">
              <a:defRPr sz="1500" b="1" i="0">
                <a:solidFill>
                  <a:srgbClr val="2C2C2C"/>
                </a:solidFill>
                <a:latin typeface="Calibri"/>
              </a:defRPr>
            </a:pPr>
            <a:r>
              <a:t>2,279 ASINs</a:t>
            </a:r>
          </a:p>
        </p:txBody>
      </p:sp>
      <p:sp>
        <p:nvSpPr>
          <p:cNvPr id="21" name="Rounded Rectangle 20"/>
          <p:cNvSpPr/>
          <p:nvPr/>
        </p:nvSpPr>
        <p:spPr>
          <a:xfrm>
            <a:off x="365760" y="4206240"/>
            <a:ext cx="11430000" cy="64008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251960"/>
            <a:ext cx="10972800" cy="548640"/>
          </a:xfrm>
          <a:prstGeom prst="rect">
            <a:avLst/>
          </a:prstGeom>
          <a:noFill/>
        </p:spPr>
        <p:txBody>
          <a:bodyPr wrap="square">
            <a:spAutoFit/>
          </a:bodyPr>
          <a:lstStyle/>
          <a:p>
            <a:pPr algn="ctr">
              <a:defRPr sz="1700" b="1" i="0">
                <a:solidFill>
                  <a:srgbClr val="7E57C2"/>
                </a:solidFill>
                <a:latin typeface="Calibri"/>
              </a:defRPr>
            </a:pPr>
            <a:r>
              <a:t>Both Women and Men analyzed independently using the exact same pipeline and methodology</a:t>
            </a:r>
          </a:p>
        </p:txBody>
      </p:sp>
      <p:pic>
        <p:nvPicPr>
          <p:cNvPr id="23" name="Picture 22" descr="shoe_0.jpg"/>
          <p:cNvPicPr>
            <a:picLocks noChangeAspect="1"/>
          </p:cNvPicPr>
          <p:nvPr/>
        </p:nvPicPr>
        <p:blipFill>
          <a:blip r:embed="rId4"/>
          <a:stretch>
            <a:fillRect/>
          </a:stretch>
        </p:blipFill>
        <p:spPr>
          <a:xfrm>
            <a:off x="365760" y="5029200"/>
            <a:ext cx="1554480" cy="1554480"/>
          </a:xfrm>
          <a:prstGeom prst="rect">
            <a:avLst/>
          </a:prstGeom>
        </p:spPr>
      </p:pic>
      <p:pic>
        <p:nvPicPr>
          <p:cNvPr id="24" name="Picture 23" descr="shoe_1.jpg"/>
          <p:cNvPicPr>
            <a:picLocks noChangeAspect="1"/>
          </p:cNvPicPr>
          <p:nvPr/>
        </p:nvPicPr>
        <p:blipFill>
          <a:blip r:embed="rId5"/>
          <a:stretch>
            <a:fillRect/>
          </a:stretch>
        </p:blipFill>
        <p:spPr>
          <a:xfrm>
            <a:off x="2331720" y="5029200"/>
            <a:ext cx="1554480" cy="1554480"/>
          </a:xfrm>
          <a:prstGeom prst="rect">
            <a:avLst/>
          </a:prstGeom>
        </p:spPr>
      </p:pic>
      <p:pic>
        <p:nvPicPr>
          <p:cNvPr id="25" name="Picture 24" descr="shoe_2.jpg"/>
          <p:cNvPicPr>
            <a:picLocks noChangeAspect="1"/>
          </p:cNvPicPr>
          <p:nvPr/>
        </p:nvPicPr>
        <p:blipFill>
          <a:blip r:embed="rId6"/>
          <a:stretch>
            <a:fillRect/>
          </a:stretch>
        </p:blipFill>
        <p:spPr>
          <a:xfrm>
            <a:off x="4297680" y="5029200"/>
            <a:ext cx="1554480" cy="1554480"/>
          </a:xfrm>
          <a:prstGeom prst="rect">
            <a:avLst/>
          </a:prstGeom>
        </p:spPr>
      </p:pic>
      <p:pic>
        <p:nvPicPr>
          <p:cNvPr id="26" name="Picture 25" descr="shoe_3.jpg"/>
          <p:cNvPicPr>
            <a:picLocks noChangeAspect="1"/>
          </p:cNvPicPr>
          <p:nvPr/>
        </p:nvPicPr>
        <p:blipFill>
          <a:blip r:embed="rId7"/>
          <a:stretch>
            <a:fillRect/>
          </a:stretch>
        </p:blipFill>
        <p:spPr>
          <a:xfrm>
            <a:off x="6263640" y="5029200"/>
            <a:ext cx="1554480" cy="1554480"/>
          </a:xfrm>
          <a:prstGeom prst="rect">
            <a:avLst/>
          </a:prstGeom>
        </p:spPr>
      </p:pic>
      <p:pic>
        <p:nvPicPr>
          <p:cNvPr id="27" name="Picture 26" descr="shoe_4.jpg"/>
          <p:cNvPicPr>
            <a:picLocks noChangeAspect="1"/>
          </p:cNvPicPr>
          <p:nvPr/>
        </p:nvPicPr>
        <p:blipFill>
          <a:blip r:embed="rId8"/>
          <a:stretch>
            <a:fillRect/>
          </a:stretch>
        </p:blipFill>
        <p:spPr>
          <a:xfrm>
            <a:off x="8229600" y="5029200"/>
            <a:ext cx="1554480" cy="1554480"/>
          </a:xfrm>
          <a:prstGeom prst="rect">
            <a:avLst/>
          </a:prstGeom>
        </p:spPr>
      </p:pic>
      <p:pic>
        <p:nvPicPr>
          <p:cNvPr id="28" name="Picture 27" descr="shoe_5.jpg"/>
          <p:cNvPicPr>
            <a:picLocks noChangeAspect="1"/>
          </p:cNvPicPr>
          <p:nvPr/>
        </p:nvPicPr>
        <p:blipFill>
          <a:blip r:embed="rId9"/>
          <a:stretch>
            <a:fillRect/>
          </a:stretch>
        </p:blipFill>
        <p:spPr>
          <a:xfrm>
            <a:off x="10195560" y="5029200"/>
            <a:ext cx="1554480" cy="1554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EDA &amp; Data Wrangling</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Cleaning  |  Forward Fill  |  Stratified 50/50 Split</a:t>
            </a:r>
          </a:p>
        </p:txBody>
      </p:sp>
      <p:sp>
        <p:nvSpPr>
          <p:cNvPr id="5" name="Rounded Rectangle 4"/>
          <p:cNvSpPr/>
          <p:nvPr/>
        </p:nvSpPr>
        <p:spPr>
          <a:xfrm>
            <a:off x="365760" y="1188720"/>
            <a:ext cx="5669280" cy="38404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80160"/>
            <a:ext cx="5303520" cy="365760"/>
          </a:xfrm>
          <a:prstGeom prst="rect">
            <a:avLst/>
          </a:prstGeom>
          <a:noFill/>
        </p:spPr>
        <p:txBody>
          <a:bodyPr wrap="square">
            <a:spAutoFit/>
          </a:bodyPr>
          <a:lstStyle/>
          <a:p>
            <a:pPr algn="l">
              <a:defRPr sz="2200" b="1" i="0">
                <a:solidFill>
                  <a:srgbClr val="EF5350"/>
                </a:solidFill>
                <a:latin typeface="Calibri"/>
              </a:defRPr>
            </a:pPr>
            <a:r>
              <a:t>Women's Shoes</a:t>
            </a:r>
          </a:p>
        </p:txBody>
      </p:sp>
      <p:sp>
        <p:nvSpPr>
          <p:cNvPr id="7" name="TextBox 6"/>
          <p:cNvSpPr txBox="1"/>
          <p:nvPr/>
        </p:nvSpPr>
        <p:spPr>
          <a:xfrm>
            <a:off x="548640" y="1737360"/>
            <a:ext cx="5303520" cy="2743200"/>
          </a:xfrm>
          <a:prstGeom prst="rect">
            <a:avLst/>
          </a:prstGeom>
          <a:noFill/>
        </p:spPr>
        <p:txBody>
          <a:bodyPr wrap="square">
            <a:spAutoFit/>
          </a:bodyPr>
          <a:lstStyle/>
          <a:p>
            <a:pPr>
              <a:spcAft>
                <a:spcPts val="1000"/>
              </a:spcAft>
              <a:defRPr sz="1500">
                <a:solidFill>
                  <a:srgbClr val="2C2C2C"/>
                </a:solidFill>
                <a:latin typeface="Calibri"/>
              </a:defRPr>
            </a:pPr>
            <a:r>
              <a:t>5,472 ASINs after gender filter</a:t>
            </a:r>
          </a:p>
          <a:p>
            <a:pPr>
              <a:spcAft>
                <a:spcPts val="1000"/>
              </a:spcAft>
              <a:defRPr sz="1500">
                <a:solidFill>
                  <a:srgbClr val="2C2C2C"/>
                </a:solidFill>
                <a:latin typeface="Calibri"/>
              </a:defRPr>
            </a:pPr>
            <a:r>
              <a:t>12 dirty ASINs removed</a:t>
            </a:r>
          </a:p>
          <a:p>
            <a:pPr>
              <a:spcAft>
                <a:spcPts val="1000"/>
              </a:spcAft>
              <a:defRPr sz="1500">
                <a:solidFill>
                  <a:srgbClr val="2C2C2C"/>
                </a:solidFill>
                <a:latin typeface="Calibri"/>
              </a:defRPr>
            </a:pPr>
            <a:r>
              <a:t>324 incomplete ASINs dropped post-fill</a:t>
            </a:r>
          </a:p>
          <a:p>
            <a:pPr>
              <a:spcAft>
                <a:spcPts val="1000"/>
              </a:spcAft>
              <a:defRPr sz="1500">
                <a:solidFill>
                  <a:srgbClr val="2C2C2C"/>
                </a:solidFill>
                <a:latin typeface="Calibri"/>
              </a:defRPr>
            </a:pPr>
            <a:r>
              <a:t>Final: 5,147 clean ASINs</a:t>
            </a:r>
          </a:p>
          <a:p>
            <a:pPr>
              <a:spcAft>
                <a:spcPts val="1000"/>
              </a:spcAft>
              <a:defRPr sz="1500">
                <a:solidFill>
                  <a:srgbClr val="2C2C2C"/>
                </a:solidFill>
                <a:latin typeface="Calibri"/>
              </a:defRPr>
            </a:pPr>
            <a:r>
              <a:t>Train: 2,573  |  Val: 2,574</a:t>
            </a:r>
          </a:p>
          <a:p>
            <a:pPr>
              <a:spcAft>
                <a:spcPts val="1000"/>
              </a:spcAft>
              <a:defRPr sz="1500">
                <a:solidFill>
                  <a:srgbClr val="2C2C2C"/>
                </a:solidFill>
                <a:latin typeface="Calibri"/>
              </a:defRPr>
            </a:pPr>
            <a:r>
              <a:t>Top categories: Pumps, Flats, Heeled Sandals,</a:t>
            </a:r>
          </a:p>
          <a:p>
            <a:pPr>
              <a:spcAft>
                <a:spcPts val="1000"/>
              </a:spcAft>
              <a:defRPr sz="1500">
                <a:solidFill>
                  <a:srgbClr val="2C2C2C"/>
                </a:solidFill>
                <a:latin typeface="Calibri"/>
              </a:defRPr>
            </a:pPr>
            <a:r>
              <a:t>  Loafers, Mules &amp; Clogs, Ballet &amp; Dance</a:t>
            </a:r>
          </a:p>
        </p:txBody>
      </p:sp>
      <p:sp>
        <p:nvSpPr>
          <p:cNvPr id="8" name="Rounded Rectangle 7"/>
          <p:cNvSpPr/>
          <p:nvPr/>
        </p:nvSpPr>
        <p:spPr>
          <a:xfrm>
            <a:off x="6309360" y="1188720"/>
            <a:ext cx="5486400" cy="384048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80160"/>
            <a:ext cx="5120640" cy="365760"/>
          </a:xfrm>
          <a:prstGeom prst="rect">
            <a:avLst/>
          </a:prstGeom>
          <a:noFill/>
        </p:spPr>
        <p:txBody>
          <a:bodyPr wrap="square">
            <a:spAutoFit/>
          </a:bodyPr>
          <a:lstStyle/>
          <a:p>
            <a:pPr algn="l">
              <a:defRPr sz="2200" b="1" i="0">
                <a:solidFill>
                  <a:srgbClr val="42A5F5"/>
                </a:solidFill>
                <a:latin typeface="Calibri"/>
              </a:defRPr>
            </a:pPr>
            <a:r>
              <a:t>Men's Shoes</a:t>
            </a:r>
          </a:p>
        </p:txBody>
      </p:sp>
      <p:sp>
        <p:nvSpPr>
          <p:cNvPr id="10" name="TextBox 9"/>
          <p:cNvSpPr txBox="1"/>
          <p:nvPr/>
        </p:nvSpPr>
        <p:spPr>
          <a:xfrm>
            <a:off x="6492240" y="1737360"/>
            <a:ext cx="5120640" cy="2743200"/>
          </a:xfrm>
          <a:prstGeom prst="rect">
            <a:avLst/>
          </a:prstGeom>
          <a:noFill/>
        </p:spPr>
        <p:txBody>
          <a:bodyPr wrap="square">
            <a:spAutoFit/>
          </a:bodyPr>
          <a:lstStyle/>
          <a:p>
            <a:pPr>
              <a:spcAft>
                <a:spcPts val="1000"/>
              </a:spcAft>
              <a:defRPr sz="1500">
                <a:solidFill>
                  <a:srgbClr val="2C2C2C"/>
                </a:solidFill>
                <a:latin typeface="Calibri"/>
              </a:defRPr>
            </a:pPr>
            <a:r>
              <a:t>2,279 ASINs after gender filter</a:t>
            </a:r>
          </a:p>
          <a:p>
            <a:pPr>
              <a:spcAft>
                <a:spcPts val="1000"/>
              </a:spcAft>
              <a:defRPr sz="1500">
                <a:solidFill>
                  <a:srgbClr val="2C2C2C"/>
                </a:solidFill>
                <a:latin typeface="Calibri"/>
              </a:defRPr>
            </a:pPr>
            <a:r>
              <a:t>11 dirty ASINs removed</a:t>
            </a:r>
          </a:p>
          <a:p>
            <a:pPr>
              <a:spcAft>
                <a:spcPts val="1000"/>
              </a:spcAft>
              <a:defRPr sz="1500">
                <a:solidFill>
                  <a:srgbClr val="2C2C2C"/>
                </a:solidFill>
                <a:latin typeface="Calibri"/>
              </a:defRPr>
            </a:pPr>
            <a:r>
              <a:t>217 incomplete ASINs dropped post-fill</a:t>
            </a:r>
          </a:p>
          <a:p>
            <a:pPr>
              <a:spcAft>
                <a:spcPts val="1000"/>
              </a:spcAft>
              <a:defRPr sz="1500">
                <a:solidFill>
                  <a:srgbClr val="2C2C2C"/>
                </a:solidFill>
                <a:latin typeface="Calibri"/>
              </a:defRPr>
            </a:pPr>
            <a:r>
              <a:t>Final: 2,061 clean ASINs</a:t>
            </a:r>
          </a:p>
          <a:p>
            <a:pPr>
              <a:spcAft>
                <a:spcPts val="1000"/>
              </a:spcAft>
              <a:defRPr sz="1500">
                <a:solidFill>
                  <a:srgbClr val="2C2C2C"/>
                </a:solidFill>
                <a:latin typeface="Calibri"/>
              </a:defRPr>
            </a:pPr>
            <a:r>
              <a:t>Train: 1,029  |  Val: 1,032</a:t>
            </a:r>
          </a:p>
          <a:p>
            <a:pPr>
              <a:spcAft>
                <a:spcPts val="1000"/>
              </a:spcAft>
              <a:defRPr sz="1500">
                <a:solidFill>
                  <a:srgbClr val="2C2C2C"/>
                </a:solidFill>
                <a:latin typeface="Calibri"/>
              </a:defRPr>
            </a:pPr>
            <a:r>
              <a:t>Top categories: Loafers, Oxfords, Sneakers,</a:t>
            </a:r>
          </a:p>
          <a:p>
            <a:pPr>
              <a:spcAft>
                <a:spcPts val="1000"/>
              </a:spcAft>
              <a:defRPr sz="1500">
                <a:solidFill>
                  <a:srgbClr val="2C2C2C"/>
                </a:solidFill>
                <a:latin typeface="Calibri"/>
              </a:defRPr>
            </a:pPr>
            <a:r>
              <a:t>  Walking, Road Running, Trail Running</a:t>
            </a:r>
          </a:p>
        </p:txBody>
      </p:sp>
      <p:sp>
        <p:nvSpPr>
          <p:cNvPr id="11" name="Rounded Rectangle 10"/>
          <p:cNvSpPr/>
          <p:nvPr/>
        </p:nvSpPr>
        <p:spPr>
          <a:xfrm>
            <a:off x="365760" y="5212080"/>
            <a:ext cx="11430000" cy="54864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257800"/>
            <a:ext cx="10972800" cy="457200"/>
          </a:xfrm>
          <a:prstGeom prst="rect">
            <a:avLst/>
          </a:prstGeom>
          <a:noFill/>
        </p:spPr>
        <p:txBody>
          <a:bodyPr wrap="square">
            <a:spAutoFit/>
          </a:bodyPr>
          <a:lstStyle/>
          <a:p>
            <a:pPr algn="ctr">
              <a:defRPr sz="1400" b="0" i="0">
                <a:solidFill>
                  <a:srgbClr val="909090"/>
                </a:solidFill>
                <a:latin typeface="Calibri"/>
              </a:defRPr>
            </a:pPr>
            <a:r>
              <a:t>Raw data  &gt;  Remove dirty ASINs  &gt;  Gender filter  &gt;  Forward fill (Jan/Feb seed)  &gt;  Drop incomplete  &gt;  Stratified split</a:t>
            </a:r>
          </a:p>
        </p:txBody>
      </p:sp>
      <p:pic>
        <p:nvPicPr>
          <p:cNvPr id="13" name="Picture 12" descr="shoe_3.jpg"/>
          <p:cNvPicPr>
            <a:picLocks noChangeAspect="1"/>
          </p:cNvPicPr>
          <p:nvPr/>
        </p:nvPicPr>
        <p:blipFill>
          <a:blip r:embed="rId2"/>
          <a:stretch>
            <a:fillRect/>
          </a:stretch>
        </p:blipFill>
        <p:spPr>
          <a:xfrm>
            <a:off x="3200400" y="3200400"/>
            <a:ext cx="1371600" cy="1371600"/>
          </a:xfrm>
          <a:prstGeom prst="rect">
            <a:avLst/>
          </a:prstGeom>
        </p:spPr>
      </p:pic>
      <p:pic>
        <p:nvPicPr>
          <p:cNvPr id="14" name="Picture 13" descr="shoe_5.jpg"/>
          <p:cNvPicPr>
            <a:picLocks noChangeAspect="1"/>
          </p:cNvPicPr>
          <p:nvPr/>
        </p:nvPicPr>
        <p:blipFill>
          <a:blip r:embed="rId3"/>
          <a:stretch>
            <a:fillRect/>
          </a:stretch>
        </p:blipFill>
        <p:spPr>
          <a:xfrm>
            <a:off x="9144000" y="3200400"/>
            <a:ext cx="1371600" cy="1371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Multimodal Embedding Training</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Victor et al. (2025) Appendix G  |  Three Encoders + Cross-Attention Fusion</a:t>
            </a:r>
          </a:p>
        </p:txBody>
      </p:sp>
      <p:sp>
        <p:nvSpPr>
          <p:cNvPr id="5" name="Rounded Rectangle 4"/>
          <p:cNvSpPr/>
          <p:nvPr/>
        </p:nvSpPr>
        <p:spPr>
          <a:xfrm>
            <a:off x="365760" y="1188720"/>
            <a:ext cx="3566160" cy="1828800"/>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80160"/>
            <a:ext cx="3200400" cy="320040"/>
          </a:xfrm>
          <a:prstGeom prst="rect">
            <a:avLst/>
          </a:prstGeom>
          <a:noFill/>
        </p:spPr>
        <p:txBody>
          <a:bodyPr wrap="square">
            <a:spAutoFit/>
          </a:bodyPr>
          <a:lstStyle/>
          <a:p>
            <a:pPr algn="ctr">
              <a:defRPr sz="1800" b="1" i="0">
                <a:solidFill>
                  <a:srgbClr val="F4843D"/>
                </a:solidFill>
                <a:latin typeface="Calibri"/>
              </a:defRPr>
            </a:pPr>
            <a:r>
              <a:t>Text Encoder</a:t>
            </a:r>
          </a:p>
        </p:txBody>
      </p:sp>
      <p:sp>
        <p:nvSpPr>
          <p:cNvPr id="7" name="TextBox 6"/>
          <p:cNvSpPr txBox="1"/>
          <p:nvPr/>
        </p:nvSpPr>
        <p:spPr>
          <a:xfrm>
            <a:off x="548640" y="1645920"/>
            <a:ext cx="3200400" cy="274320"/>
          </a:xfrm>
          <a:prstGeom prst="rect">
            <a:avLst/>
          </a:prstGeom>
          <a:noFill/>
        </p:spPr>
        <p:txBody>
          <a:bodyPr wrap="square">
            <a:spAutoFit/>
          </a:bodyPr>
          <a:lstStyle/>
          <a:p>
            <a:pPr algn="ctr">
              <a:defRPr sz="2200" b="1" i="0">
                <a:solidFill>
                  <a:srgbClr val="2C2C2C"/>
                </a:solidFill>
                <a:latin typeface="Calibri"/>
              </a:defRPr>
            </a:pPr>
            <a:r>
              <a:t>RoBERTa</a:t>
            </a:r>
          </a:p>
        </p:txBody>
      </p:sp>
      <p:sp>
        <p:nvSpPr>
          <p:cNvPr id="8" name="TextBox 7"/>
          <p:cNvSpPr txBox="1"/>
          <p:nvPr/>
        </p:nvSpPr>
        <p:spPr>
          <a:xfrm>
            <a:off x="548640" y="2011680"/>
            <a:ext cx="3200400" cy="731520"/>
          </a:xfrm>
          <a:prstGeom prst="rect">
            <a:avLst/>
          </a:prstGeom>
          <a:noFill/>
        </p:spPr>
        <p:txBody>
          <a:bodyPr wrap="square">
            <a:spAutoFit/>
          </a:bodyPr>
          <a:lstStyle/>
          <a:p>
            <a:pPr algn="ctr">
              <a:defRPr sz="1300" b="0" i="0">
                <a:solidFill>
                  <a:srgbClr val="909090"/>
                </a:solidFill>
                <a:latin typeface="Calibri"/>
              </a:defRPr>
            </a:pPr>
            <a:r>
              <a:t>Product title, brand,</a:t>
            </a:r>
            <a:br/>
            <a:r>
              <a:t>model, color, size</a:t>
            </a:r>
          </a:p>
        </p:txBody>
      </p:sp>
      <p:sp>
        <p:nvSpPr>
          <p:cNvPr id="9" name="Rounded Rectangle 8"/>
          <p:cNvSpPr/>
          <p:nvPr/>
        </p:nvSpPr>
        <p:spPr>
          <a:xfrm>
            <a:off x="4297680" y="1188720"/>
            <a:ext cx="3566160" cy="182880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280160"/>
            <a:ext cx="3200400" cy="320040"/>
          </a:xfrm>
          <a:prstGeom prst="rect">
            <a:avLst/>
          </a:prstGeom>
          <a:noFill/>
        </p:spPr>
        <p:txBody>
          <a:bodyPr wrap="square">
            <a:spAutoFit/>
          </a:bodyPr>
          <a:lstStyle/>
          <a:p>
            <a:pPr algn="ctr">
              <a:defRPr sz="1800" b="1" i="0">
                <a:solidFill>
                  <a:srgbClr val="26A69A"/>
                </a:solidFill>
                <a:latin typeface="Calibri"/>
              </a:defRPr>
            </a:pPr>
            <a:r>
              <a:t>Image Encoder</a:t>
            </a:r>
          </a:p>
        </p:txBody>
      </p:sp>
      <p:sp>
        <p:nvSpPr>
          <p:cNvPr id="11" name="TextBox 10"/>
          <p:cNvSpPr txBox="1"/>
          <p:nvPr/>
        </p:nvSpPr>
        <p:spPr>
          <a:xfrm>
            <a:off x="4480560" y="1645920"/>
            <a:ext cx="3200400" cy="274320"/>
          </a:xfrm>
          <a:prstGeom prst="rect">
            <a:avLst/>
          </a:prstGeom>
          <a:noFill/>
        </p:spPr>
        <p:txBody>
          <a:bodyPr wrap="square">
            <a:spAutoFit/>
          </a:bodyPr>
          <a:lstStyle/>
          <a:p>
            <a:pPr algn="ctr">
              <a:defRPr sz="2200" b="1" i="0">
                <a:solidFill>
                  <a:srgbClr val="2C2C2C"/>
                </a:solidFill>
                <a:latin typeface="Calibri"/>
              </a:defRPr>
            </a:pPr>
            <a:r>
              <a:t>BEiT</a:t>
            </a:r>
          </a:p>
        </p:txBody>
      </p:sp>
      <p:sp>
        <p:nvSpPr>
          <p:cNvPr id="12" name="TextBox 11"/>
          <p:cNvSpPr txBox="1"/>
          <p:nvPr/>
        </p:nvSpPr>
        <p:spPr>
          <a:xfrm>
            <a:off x="4480560" y="2011680"/>
            <a:ext cx="3200400" cy="731520"/>
          </a:xfrm>
          <a:prstGeom prst="rect">
            <a:avLst/>
          </a:prstGeom>
          <a:noFill/>
        </p:spPr>
        <p:txBody>
          <a:bodyPr wrap="square">
            <a:spAutoFit/>
          </a:bodyPr>
          <a:lstStyle/>
          <a:p>
            <a:pPr algn="ctr">
              <a:defRPr sz="1300" b="0" i="0">
                <a:solidFill>
                  <a:srgbClr val="909090"/>
                </a:solidFill>
                <a:latin typeface="Calibri"/>
              </a:defRPr>
            </a:pPr>
            <a:r>
              <a:t>Product photo</a:t>
            </a:r>
            <a:br/>
            <a:r>
              <a:t>(224x224 pixels)</a:t>
            </a:r>
          </a:p>
        </p:txBody>
      </p:sp>
      <p:sp>
        <p:nvSpPr>
          <p:cNvPr id="13" name="Rounded Rectangle 12"/>
          <p:cNvSpPr/>
          <p:nvPr/>
        </p:nvSpPr>
        <p:spPr>
          <a:xfrm>
            <a:off x="8229600" y="1188720"/>
            <a:ext cx="3566160" cy="182880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280160"/>
            <a:ext cx="3200400" cy="320040"/>
          </a:xfrm>
          <a:prstGeom prst="rect">
            <a:avLst/>
          </a:prstGeom>
          <a:noFill/>
        </p:spPr>
        <p:txBody>
          <a:bodyPr wrap="square">
            <a:spAutoFit/>
          </a:bodyPr>
          <a:lstStyle/>
          <a:p>
            <a:pPr algn="ctr">
              <a:defRPr sz="1800" b="1" i="0">
                <a:solidFill>
                  <a:srgbClr val="7E57C2"/>
                </a:solidFill>
                <a:latin typeface="Calibri"/>
              </a:defRPr>
            </a:pPr>
            <a:r>
              <a:t>Tabular Encoder</a:t>
            </a:r>
          </a:p>
        </p:txBody>
      </p:sp>
      <p:sp>
        <p:nvSpPr>
          <p:cNvPr id="15" name="TextBox 14"/>
          <p:cNvSpPr txBox="1"/>
          <p:nvPr/>
        </p:nvSpPr>
        <p:spPr>
          <a:xfrm>
            <a:off x="8412480" y="1645920"/>
            <a:ext cx="3200400" cy="274320"/>
          </a:xfrm>
          <a:prstGeom prst="rect">
            <a:avLst/>
          </a:prstGeom>
          <a:noFill/>
        </p:spPr>
        <p:txBody>
          <a:bodyPr wrap="square">
            <a:spAutoFit/>
          </a:bodyPr>
          <a:lstStyle/>
          <a:p>
            <a:pPr algn="ctr">
              <a:defRPr sz="2200" b="1" i="0">
                <a:solidFill>
                  <a:srgbClr val="2C2C2C"/>
                </a:solidFill>
                <a:latin typeface="Calibri"/>
              </a:defRPr>
            </a:pPr>
            <a:r>
              <a:t>SAINT</a:t>
            </a:r>
          </a:p>
        </p:txBody>
      </p:sp>
      <p:sp>
        <p:nvSpPr>
          <p:cNvPr id="16" name="TextBox 15"/>
          <p:cNvSpPr txBox="1"/>
          <p:nvPr/>
        </p:nvSpPr>
        <p:spPr>
          <a:xfrm>
            <a:off x="8412480" y="2011680"/>
            <a:ext cx="3200400" cy="731520"/>
          </a:xfrm>
          <a:prstGeom prst="rect">
            <a:avLst/>
          </a:prstGeom>
          <a:noFill/>
        </p:spPr>
        <p:txBody>
          <a:bodyPr wrap="square">
            <a:spAutoFit/>
          </a:bodyPr>
          <a:lstStyle/>
          <a:p>
            <a:pPr algn="ctr">
              <a:defRPr sz="1300" b="0" i="0">
                <a:solidFill>
                  <a:srgbClr val="909090"/>
                </a:solidFill>
                <a:latin typeface="Calibri"/>
              </a:defRPr>
            </a:pPr>
            <a:r>
              <a:t>Rating, reviews, offers,</a:t>
            </a:r>
            <a:br/>
            <a:r>
              <a:t>Buy Box, deals</a:t>
            </a:r>
          </a:p>
        </p:txBody>
      </p:sp>
      <p:sp>
        <p:nvSpPr>
          <p:cNvPr id="17" name="Rectangle 16"/>
          <p:cNvSpPr/>
          <p:nvPr/>
        </p:nvSpPr>
        <p:spPr>
          <a:xfrm>
            <a:off x="365760" y="3200400"/>
            <a:ext cx="11430000" cy="640080"/>
          </a:xfrm>
          <a:prstGeom prst="rect">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246120"/>
            <a:ext cx="11430000" cy="548640"/>
          </a:xfrm>
          <a:prstGeom prst="rect">
            <a:avLst/>
          </a:prstGeom>
          <a:noFill/>
        </p:spPr>
        <p:txBody>
          <a:bodyPr wrap="square">
            <a:spAutoFit/>
          </a:bodyPr>
          <a:lstStyle/>
          <a:p>
            <a:pPr algn="ctr">
              <a:defRPr sz="1700" b="1" i="0">
                <a:solidFill>
                  <a:srgbClr val="FFFFFF"/>
                </a:solidFill>
                <a:latin typeface="Calibri"/>
              </a:defRPr>
            </a:pPr>
            <a:r>
              <a:t>Cross-Attention Fusion  &gt;  LayerNorm  &gt;  FC Projection  &gt;  128 / 256-dim Embedding</a:t>
            </a:r>
          </a:p>
        </p:txBody>
      </p:sp>
      <p:sp>
        <p:nvSpPr>
          <p:cNvPr id="19" name="Rounded Rectangle 18"/>
          <p:cNvSpPr/>
          <p:nvPr/>
        </p:nvSpPr>
        <p:spPr>
          <a:xfrm>
            <a:off x="2286000" y="4023360"/>
            <a:ext cx="3200400" cy="54864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0" y="4069080"/>
            <a:ext cx="3200400" cy="457200"/>
          </a:xfrm>
          <a:prstGeom prst="rect">
            <a:avLst/>
          </a:prstGeom>
          <a:noFill/>
        </p:spPr>
        <p:txBody>
          <a:bodyPr wrap="square">
            <a:spAutoFit/>
          </a:bodyPr>
          <a:lstStyle/>
          <a:p>
            <a:pPr algn="ctr">
              <a:defRPr sz="1500" b="1" i="0">
                <a:solidFill>
                  <a:srgbClr val="26A69A"/>
                </a:solidFill>
                <a:latin typeface="Calibri"/>
              </a:defRPr>
            </a:pPr>
            <a:r>
              <a:t>Sales Rank Prediction (Q)</a:t>
            </a:r>
          </a:p>
        </p:txBody>
      </p:sp>
      <p:sp>
        <p:nvSpPr>
          <p:cNvPr id="21" name="Rounded Rectangle 20"/>
          <p:cNvSpPr/>
          <p:nvPr/>
        </p:nvSpPr>
        <p:spPr>
          <a:xfrm>
            <a:off x="6675120" y="4023360"/>
            <a:ext cx="3200400" cy="54864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4069080"/>
            <a:ext cx="3200400" cy="457200"/>
          </a:xfrm>
          <a:prstGeom prst="rect">
            <a:avLst/>
          </a:prstGeom>
          <a:noFill/>
        </p:spPr>
        <p:txBody>
          <a:bodyPr wrap="square">
            <a:spAutoFit/>
          </a:bodyPr>
          <a:lstStyle/>
          <a:p>
            <a:pPr algn="ctr">
              <a:defRPr sz="1500" b="1" i="0">
                <a:solidFill>
                  <a:srgbClr val="EF5350"/>
                </a:solidFill>
                <a:latin typeface="Calibri"/>
              </a:defRPr>
            </a:pPr>
            <a:r>
              <a:t>Price Prediction (P)</a:t>
            </a:r>
          </a:p>
        </p:txBody>
      </p:sp>
      <p:sp>
        <p:nvSpPr>
          <p:cNvPr id="23" name="Rounded Rectangle 22"/>
          <p:cNvSpPr/>
          <p:nvPr/>
        </p:nvSpPr>
        <p:spPr>
          <a:xfrm>
            <a:off x="365760" y="4846320"/>
            <a:ext cx="11430000" cy="18288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892040"/>
            <a:ext cx="10972800" cy="320040"/>
          </a:xfrm>
          <a:prstGeom prst="rect">
            <a:avLst/>
          </a:prstGeom>
          <a:noFill/>
        </p:spPr>
        <p:txBody>
          <a:bodyPr wrap="square">
            <a:spAutoFit/>
          </a:bodyPr>
          <a:lstStyle/>
          <a:p>
            <a:pPr algn="l">
              <a:defRPr sz="1700" b="1" i="0">
                <a:solidFill>
                  <a:srgbClr val="2C2C2C"/>
                </a:solidFill>
                <a:latin typeface="Calibri"/>
              </a:defRPr>
            </a:pPr>
            <a:r>
              <a:t>4 Training Variants (NVIDIA H200 GPUs on Northeastern RC Cluster)</a:t>
            </a:r>
          </a:p>
        </p:txBody>
      </p:sp>
      <p:sp>
        <p:nvSpPr>
          <p:cNvPr id="25" name="Rounded Rectangle 24"/>
          <p:cNvSpPr/>
          <p:nvPr/>
        </p:nvSpPr>
        <p:spPr>
          <a:xfrm>
            <a:off x="548640" y="5349240"/>
            <a:ext cx="2560320" cy="1097280"/>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394960"/>
            <a:ext cx="2377440" cy="274320"/>
          </a:xfrm>
          <a:prstGeom prst="rect">
            <a:avLst/>
          </a:prstGeom>
          <a:noFill/>
        </p:spPr>
        <p:txBody>
          <a:bodyPr wrap="square">
            <a:spAutoFit/>
          </a:bodyPr>
          <a:lstStyle/>
          <a:p>
            <a:pPr algn="l">
              <a:defRPr sz="1500" b="1" i="0">
                <a:solidFill>
                  <a:srgbClr val="2C2C2C"/>
                </a:solidFill>
                <a:latin typeface="Calibri"/>
              </a:defRPr>
            </a:pPr>
            <a:r>
              <a:t>Part 3a</a:t>
            </a:r>
          </a:p>
        </p:txBody>
      </p:sp>
      <p:sp>
        <p:nvSpPr>
          <p:cNvPr id="27" name="TextBox 26"/>
          <p:cNvSpPr txBox="1"/>
          <p:nvPr/>
        </p:nvSpPr>
        <p:spPr>
          <a:xfrm>
            <a:off x="640080" y="5669280"/>
            <a:ext cx="2377440" cy="274320"/>
          </a:xfrm>
          <a:prstGeom prst="rect">
            <a:avLst/>
          </a:prstGeom>
          <a:noFill/>
        </p:spPr>
        <p:txBody>
          <a:bodyPr wrap="square">
            <a:spAutoFit/>
          </a:bodyPr>
          <a:lstStyle/>
          <a:p>
            <a:pPr algn="l">
              <a:defRPr sz="1300" b="0" i="0">
                <a:solidFill>
                  <a:srgbClr val="909090"/>
                </a:solidFill>
                <a:latin typeface="Calibri"/>
              </a:defRPr>
            </a:pPr>
            <a:r>
              <a:t>Text + Image + Tab</a:t>
            </a:r>
          </a:p>
        </p:txBody>
      </p:sp>
      <p:sp>
        <p:nvSpPr>
          <p:cNvPr id="28" name="TextBox 27"/>
          <p:cNvSpPr txBox="1"/>
          <p:nvPr/>
        </p:nvSpPr>
        <p:spPr>
          <a:xfrm>
            <a:off x="640080" y="5943600"/>
            <a:ext cx="2377440" cy="274320"/>
          </a:xfrm>
          <a:prstGeom prst="rect">
            <a:avLst/>
          </a:prstGeom>
          <a:noFill/>
        </p:spPr>
        <p:txBody>
          <a:bodyPr wrap="square">
            <a:spAutoFit/>
          </a:bodyPr>
          <a:lstStyle/>
          <a:p>
            <a:pPr algn="l">
              <a:defRPr sz="1300" b="0" i="0">
                <a:solidFill>
                  <a:srgbClr val="909090"/>
                </a:solidFill>
                <a:latin typeface="Calibri"/>
              </a:defRPr>
            </a:pPr>
            <a:r>
              <a:t>Lag-1</a:t>
            </a:r>
          </a:p>
        </p:txBody>
      </p:sp>
      <p:sp>
        <p:nvSpPr>
          <p:cNvPr id="29" name="Rounded Rectangle 28"/>
          <p:cNvSpPr/>
          <p:nvPr/>
        </p:nvSpPr>
        <p:spPr>
          <a:xfrm>
            <a:off x="3383280" y="5349240"/>
            <a:ext cx="2560320" cy="10972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0" y="5394960"/>
            <a:ext cx="2377440" cy="274320"/>
          </a:xfrm>
          <a:prstGeom prst="rect">
            <a:avLst/>
          </a:prstGeom>
          <a:noFill/>
        </p:spPr>
        <p:txBody>
          <a:bodyPr wrap="square">
            <a:spAutoFit/>
          </a:bodyPr>
          <a:lstStyle/>
          <a:p>
            <a:pPr algn="l">
              <a:defRPr sz="1500" b="1" i="0">
                <a:solidFill>
                  <a:srgbClr val="2C2C2C"/>
                </a:solidFill>
                <a:latin typeface="Calibri"/>
              </a:defRPr>
            </a:pPr>
            <a:r>
              <a:t>Part 3b</a:t>
            </a:r>
          </a:p>
        </p:txBody>
      </p:sp>
      <p:sp>
        <p:nvSpPr>
          <p:cNvPr id="31" name="TextBox 30"/>
          <p:cNvSpPr txBox="1"/>
          <p:nvPr/>
        </p:nvSpPr>
        <p:spPr>
          <a:xfrm>
            <a:off x="3474720" y="5669280"/>
            <a:ext cx="2377440" cy="274320"/>
          </a:xfrm>
          <a:prstGeom prst="rect">
            <a:avLst/>
          </a:prstGeom>
          <a:noFill/>
        </p:spPr>
        <p:txBody>
          <a:bodyPr wrap="square">
            <a:spAutoFit/>
          </a:bodyPr>
          <a:lstStyle/>
          <a:p>
            <a:pPr algn="l">
              <a:defRPr sz="1300" b="0" i="0">
                <a:solidFill>
                  <a:srgbClr val="909090"/>
                </a:solidFill>
                <a:latin typeface="Calibri"/>
              </a:defRPr>
            </a:pPr>
            <a:r>
              <a:t>Text + Image + Tab</a:t>
            </a:r>
          </a:p>
        </p:txBody>
      </p:sp>
      <p:sp>
        <p:nvSpPr>
          <p:cNvPr id="32" name="TextBox 31"/>
          <p:cNvSpPr txBox="1"/>
          <p:nvPr/>
        </p:nvSpPr>
        <p:spPr>
          <a:xfrm>
            <a:off x="3474720" y="5943600"/>
            <a:ext cx="2377440" cy="274320"/>
          </a:xfrm>
          <a:prstGeom prst="rect">
            <a:avLst/>
          </a:prstGeom>
          <a:noFill/>
        </p:spPr>
        <p:txBody>
          <a:bodyPr wrap="square">
            <a:spAutoFit/>
          </a:bodyPr>
          <a:lstStyle/>
          <a:p>
            <a:pPr algn="l">
              <a:defRPr sz="1300" b="0" i="0">
                <a:solidFill>
                  <a:srgbClr val="909090"/>
                </a:solidFill>
                <a:latin typeface="Calibri"/>
              </a:defRPr>
            </a:pPr>
            <a:r>
              <a:t>Time-indep.</a:t>
            </a:r>
          </a:p>
        </p:txBody>
      </p:sp>
      <p:sp>
        <p:nvSpPr>
          <p:cNvPr id="33" name="Rounded Rectangle 32"/>
          <p:cNvSpPr/>
          <p:nvPr/>
        </p:nvSpPr>
        <p:spPr>
          <a:xfrm>
            <a:off x="6217920" y="5349240"/>
            <a:ext cx="2560320" cy="109728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5394960"/>
            <a:ext cx="2377440" cy="274320"/>
          </a:xfrm>
          <a:prstGeom prst="rect">
            <a:avLst/>
          </a:prstGeom>
          <a:noFill/>
        </p:spPr>
        <p:txBody>
          <a:bodyPr wrap="square">
            <a:spAutoFit/>
          </a:bodyPr>
          <a:lstStyle/>
          <a:p>
            <a:pPr algn="l">
              <a:defRPr sz="1500" b="1" i="0">
                <a:solidFill>
                  <a:srgbClr val="2C2C2C"/>
                </a:solidFill>
                <a:latin typeface="Calibri"/>
              </a:defRPr>
            </a:pPr>
            <a:r>
              <a:t>Part 3c</a:t>
            </a:r>
          </a:p>
        </p:txBody>
      </p:sp>
      <p:sp>
        <p:nvSpPr>
          <p:cNvPr id="35" name="TextBox 34"/>
          <p:cNvSpPr txBox="1"/>
          <p:nvPr/>
        </p:nvSpPr>
        <p:spPr>
          <a:xfrm>
            <a:off x="6309360" y="5669280"/>
            <a:ext cx="2377440" cy="274320"/>
          </a:xfrm>
          <a:prstGeom prst="rect">
            <a:avLst/>
          </a:prstGeom>
          <a:noFill/>
        </p:spPr>
        <p:txBody>
          <a:bodyPr wrap="square">
            <a:spAutoFit/>
          </a:bodyPr>
          <a:lstStyle/>
          <a:p>
            <a:pPr algn="l">
              <a:defRPr sz="1300" b="0" i="0">
                <a:solidFill>
                  <a:srgbClr val="909090"/>
                </a:solidFill>
                <a:latin typeface="Calibri"/>
              </a:defRPr>
            </a:pPr>
            <a:r>
              <a:t>Text only</a:t>
            </a:r>
          </a:p>
        </p:txBody>
      </p:sp>
      <p:sp>
        <p:nvSpPr>
          <p:cNvPr id="36" name="TextBox 35"/>
          <p:cNvSpPr txBox="1"/>
          <p:nvPr/>
        </p:nvSpPr>
        <p:spPr>
          <a:xfrm>
            <a:off x="6309360" y="5943600"/>
            <a:ext cx="2377440" cy="274320"/>
          </a:xfrm>
          <a:prstGeom prst="rect">
            <a:avLst/>
          </a:prstGeom>
          <a:noFill/>
        </p:spPr>
        <p:txBody>
          <a:bodyPr wrap="square">
            <a:spAutoFit/>
          </a:bodyPr>
          <a:lstStyle/>
          <a:p>
            <a:pPr algn="l">
              <a:defRPr sz="1300" b="0" i="0">
                <a:solidFill>
                  <a:srgbClr val="909090"/>
                </a:solidFill>
                <a:latin typeface="Calibri"/>
              </a:defRPr>
            </a:pPr>
            <a:r>
              <a:t>Lag-1</a:t>
            </a:r>
          </a:p>
        </p:txBody>
      </p:sp>
      <p:sp>
        <p:nvSpPr>
          <p:cNvPr id="37" name="Rounded Rectangle 36"/>
          <p:cNvSpPr/>
          <p:nvPr/>
        </p:nvSpPr>
        <p:spPr>
          <a:xfrm>
            <a:off x="9052560" y="5349240"/>
            <a:ext cx="2560320" cy="109728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0" y="5394960"/>
            <a:ext cx="2377440" cy="274320"/>
          </a:xfrm>
          <a:prstGeom prst="rect">
            <a:avLst/>
          </a:prstGeom>
          <a:noFill/>
        </p:spPr>
        <p:txBody>
          <a:bodyPr wrap="square">
            <a:spAutoFit/>
          </a:bodyPr>
          <a:lstStyle/>
          <a:p>
            <a:pPr algn="l">
              <a:defRPr sz="1500" b="1" i="0">
                <a:solidFill>
                  <a:srgbClr val="2C2C2C"/>
                </a:solidFill>
                <a:latin typeface="Calibri"/>
              </a:defRPr>
            </a:pPr>
            <a:r>
              <a:t>Part 3d</a:t>
            </a:r>
          </a:p>
        </p:txBody>
      </p:sp>
      <p:sp>
        <p:nvSpPr>
          <p:cNvPr id="39" name="TextBox 38"/>
          <p:cNvSpPr txBox="1"/>
          <p:nvPr/>
        </p:nvSpPr>
        <p:spPr>
          <a:xfrm>
            <a:off x="9144000" y="5669280"/>
            <a:ext cx="2377440" cy="274320"/>
          </a:xfrm>
          <a:prstGeom prst="rect">
            <a:avLst/>
          </a:prstGeom>
          <a:noFill/>
        </p:spPr>
        <p:txBody>
          <a:bodyPr wrap="square">
            <a:spAutoFit/>
          </a:bodyPr>
          <a:lstStyle/>
          <a:p>
            <a:pPr algn="l">
              <a:defRPr sz="1300" b="0" i="0">
                <a:solidFill>
                  <a:srgbClr val="909090"/>
                </a:solidFill>
                <a:latin typeface="Calibri"/>
              </a:defRPr>
            </a:pPr>
            <a:r>
              <a:t>Text only</a:t>
            </a:r>
          </a:p>
        </p:txBody>
      </p:sp>
      <p:sp>
        <p:nvSpPr>
          <p:cNvPr id="40" name="TextBox 39"/>
          <p:cNvSpPr txBox="1"/>
          <p:nvPr/>
        </p:nvSpPr>
        <p:spPr>
          <a:xfrm>
            <a:off x="9144000" y="5943600"/>
            <a:ext cx="2377440" cy="274320"/>
          </a:xfrm>
          <a:prstGeom prst="rect">
            <a:avLst/>
          </a:prstGeom>
          <a:noFill/>
        </p:spPr>
        <p:txBody>
          <a:bodyPr wrap="square">
            <a:spAutoFit/>
          </a:bodyPr>
          <a:lstStyle/>
          <a:p>
            <a:pPr algn="l">
              <a:defRPr sz="1300" b="0" i="0">
                <a:solidFill>
                  <a:srgbClr val="909090"/>
                </a:solidFill>
                <a:latin typeface="Calibri"/>
              </a:defRPr>
            </a:pPr>
            <a:r>
              <a:t>Time-indep.</a:t>
            </a:r>
          </a:p>
        </p:txBody>
      </p:sp>
      <p:sp>
        <p:nvSpPr>
          <p:cNvPr id="41" name="TextBox 40"/>
          <p:cNvSpPr txBox="1"/>
          <p:nvPr/>
        </p:nvSpPr>
        <p:spPr>
          <a:xfrm>
            <a:off x="548640" y="6492240"/>
            <a:ext cx="10972800" cy="274320"/>
          </a:xfrm>
          <a:prstGeom prst="rect">
            <a:avLst/>
          </a:prstGeom>
          <a:noFill/>
        </p:spPr>
        <p:txBody>
          <a:bodyPr wrap="square">
            <a:spAutoFit/>
          </a:bodyPr>
          <a:lstStyle/>
          <a:p>
            <a:pPr algn="ctr">
              <a:defRPr sz="1200" b="0" i="0">
                <a:solidFill>
                  <a:srgbClr val="909090"/>
                </a:solidFill>
                <a:latin typeface="Calibri"/>
              </a:defRPr>
            </a:pPr>
            <a:r>
              <a:t>Each variant produces 6 prediction zip files (2 embedding dims x 2 splits + 1 diff model x 2 splits) = 24 total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PCA &amp; Product Clustering</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KMeans (k=5)  |  Embedding Space  |  Men's Shoes</a:t>
            </a:r>
          </a:p>
        </p:txBody>
      </p:sp>
      <p:pic>
        <p:nvPicPr>
          <p:cNvPr id="5" name="Picture 4" descr="pca_2d_clusters.png"/>
          <p:cNvPicPr>
            <a:picLocks noChangeAspect="1"/>
          </p:cNvPicPr>
          <p:nvPr/>
        </p:nvPicPr>
        <p:blipFill>
          <a:blip r:embed="rId2"/>
          <a:stretch>
            <a:fillRect/>
          </a:stretch>
        </p:blipFill>
        <p:spPr>
          <a:xfrm>
            <a:off x="274320" y="1097280"/>
            <a:ext cx="6400800" cy="3200400"/>
          </a:xfrm>
          <a:prstGeom prst="rect">
            <a:avLst/>
          </a:prstGeom>
        </p:spPr>
      </p:pic>
      <p:sp>
        <p:nvSpPr>
          <p:cNvPr id="6" name="Rounded Rectangle 5"/>
          <p:cNvSpPr/>
          <p:nvPr/>
        </p:nvSpPr>
        <p:spPr>
          <a:xfrm>
            <a:off x="6858000" y="1097280"/>
            <a:ext cx="5029200" cy="4572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1188720"/>
            <a:ext cx="4663440" cy="365760"/>
          </a:xfrm>
          <a:prstGeom prst="rect">
            <a:avLst/>
          </a:prstGeom>
          <a:noFill/>
        </p:spPr>
        <p:txBody>
          <a:bodyPr wrap="square">
            <a:spAutoFit/>
          </a:bodyPr>
          <a:lstStyle/>
          <a:p>
            <a:pPr algn="l">
              <a:defRPr sz="2000" b="1" i="0">
                <a:solidFill>
                  <a:srgbClr val="42A5F5"/>
                </a:solidFill>
                <a:latin typeface="Calibri"/>
              </a:defRPr>
            </a:pPr>
            <a:r>
              <a:t>Men's Shoe Clusters</a:t>
            </a:r>
          </a:p>
        </p:txBody>
      </p:sp>
      <p:sp>
        <p:nvSpPr>
          <p:cNvPr id="8" name="Rounded Rectangle 7"/>
          <p:cNvSpPr/>
          <p:nvPr/>
        </p:nvSpPr>
        <p:spPr>
          <a:xfrm>
            <a:off x="7040880" y="1691640"/>
            <a:ext cx="4663440" cy="6400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0" y="1719072"/>
            <a:ext cx="1371600" cy="274320"/>
          </a:xfrm>
          <a:prstGeom prst="rect">
            <a:avLst/>
          </a:prstGeom>
          <a:noFill/>
        </p:spPr>
        <p:txBody>
          <a:bodyPr wrap="square">
            <a:spAutoFit/>
          </a:bodyPr>
          <a:lstStyle/>
          <a:p>
            <a:pPr algn="l">
              <a:defRPr sz="1400" b="1" i="0">
                <a:solidFill>
                  <a:srgbClr val="2C2C2C"/>
                </a:solidFill>
                <a:latin typeface="Calibri"/>
              </a:defRPr>
            </a:pPr>
            <a:r>
              <a:t>Cluster 0</a:t>
            </a:r>
          </a:p>
        </p:txBody>
      </p:sp>
      <p:sp>
        <p:nvSpPr>
          <p:cNvPr id="10" name="TextBox 9"/>
          <p:cNvSpPr txBox="1"/>
          <p:nvPr/>
        </p:nvSpPr>
        <p:spPr>
          <a:xfrm>
            <a:off x="8595360" y="1719072"/>
            <a:ext cx="914400" cy="274320"/>
          </a:xfrm>
          <a:prstGeom prst="rect">
            <a:avLst/>
          </a:prstGeom>
          <a:noFill/>
        </p:spPr>
        <p:txBody>
          <a:bodyPr wrap="square">
            <a:spAutoFit/>
          </a:bodyPr>
          <a:lstStyle/>
          <a:p>
            <a:pPr algn="l">
              <a:defRPr sz="1400" b="1" i="0">
                <a:solidFill>
                  <a:srgbClr val="909090"/>
                </a:solidFill>
                <a:latin typeface="Calibri"/>
              </a:defRPr>
            </a:pPr>
            <a:r>
              <a:t>~$31</a:t>
            </a:r>
          </a:p>
        </p:txBody>
      </p:sp>
      <p:sp>
        <p:nvSpPr>
          <p:cNvPr id="11" name="TextBox 10"/>
          <p:cNvSpPr txBox="1"/>
          <p:nvPr/>
        </p:nvSpPr>
        <p:spPr>
          <a:xfrm>
            <a:off x="9509760" y="1719072"/>
            <a:ext cx="1280160" cy="274320"/>
          </a:xfrm>
          <a:prstGeom prst="rect">
            <a:avLst/>
          </a:prstGeom>
          <a:noFill/>
        </p:spPr>
        <p:txBody>
          <a:bodyPr wrap="square">
            <a:spAutoFit/>
          </a:bodyPr>
          <a:lstStyle/>
          <a:p>
            <a:pPr algn="l">
              <a:defRPr sz="1300" b="1" i="0">
                <a:solidFill>
                  <a:srgbClr val="EF5350"/>
                </a:solidFill>
                <a:latin typeface="Calibri"/>
              </a:defRPr>
            </a:pPr>
            <a:r>
              <a:t>-0.12 CATE</a:t>
            </a:r>
          </a:p>
        </p:txBody>
      </p:sp>
      <p:sp>
        <p:nvSpPr>
          <p:cNvPr id="12" name="TextBox 11"/>
          <p:cNvSpPr txBox="1"/>
          <p:nvPr/>
        </p:nvSpPr>
        <p:spPr>
          <a:xfrm>
            <a:off x="7223760" y="2011680"/>
            <a:ext cx="4389120" cy="274320"/>
          </a:xfrm>
          <a:prstGeom prst="rect">
            <a:avLst/>
          </a:prstGeom>
          <a:noFill/>
        </p:spPr>
        <p:txBody>
          <a:bodyPr wrap="square">
            <a:spAutoFit/>
          </a:bodyPr>
          <a:lstStyle/>
          <a:p>
            <a:pPr algn="l">
              <a:defRPr sz="1200" b="0" i="0">
                <a:solidFill>
                  <a:srgbClr val="909090"/>
                </a:solidFill>
                <a:latin typeface="Calibri"/>
              </a:defRPr>
            </a:pPr>
            <a:r>
              <a:t>Walking, Sneakers</a:t>
            </a:r>
          </a:p>
        </p:txBody>
      </p:sp>
      <p:sp>
        <p:nvSpPr>
          <p:cNvPr id="13" name="Rounded Rectangle 12"/>
          <p:cNvSpPr/>
          <p:nvPr/>
        </p:nvSpPr>
        <p:spPr>
          <a:xfrm>
            <a:off x="7040880" y="2441448"/>
            <a:ext cx="4663440" cy="640080"/>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0" y="2468880"/>
            <a:ext cx="1371600" cy="274320"/>
          </a:xfrm>
          <a:prstGeom prst="rect">
            <a:avLst/>
          </a:prstGeom>
          <a:noFill/>
        </p:spPr>
        <p:txBody>
          <a:bodyPr wrap="square">
            <a:spAutoFit/>
          </a:bodyPr>
          <a:lstStyle/>
          <a:p>
            <a:pPr algn="l">
              <a:defRPr sz="1400" b="1" i="0">
                <a:solidFill>
                  <a:srgbClr val="2C2C2C"/>
                </a:solidFill>
                <a:latin typeface="Calibri"/>
              </a:defRPr>
            </a:pPr>
            <a:r>
              <a:t>Cluster 1</a:t>
            </a:r>
          </a:p>
        </p:txBody>
      </p:sp>
      <p:sp>
        <p:nvSpPr>
          <p:cNvPr id="15" name="TextBox 14"/>
          <p:cNvSpPr txBox="1"/>
          <p:nvPr/>
        </p:nvSpPr>
        <p:spPr>
          <a:xfrm>
            <a:off x="8595360" y="2468880"/>
            <a:ext cx="914400" cy="274320"/>
          </a:xfrm>
          <a:prstGeom prst="rect">
            <a:avLst/>
          </a:prstGeom>
          <a:noFill/>
        </p:spPr>
        <p:txBody>
          <a:bodyPr wrap="square">
            <a:spAutoFit/>
          </a:bodyPr>
          <a:lstStyle/>
          <a:p>
            <a:pPr algn="l">
              <a:defRPr sz="1400" b="1" i="0">
                <a:solidFill>
                  <a:srgbClr val="909090"/>
                </a:solidFill>
                <a:latin typeface="Calibri"/>
              </a:defRPr>
            </a:pPr>
            <a:r>
              <a:t>~$42</a:t>
            </a:r>
          </a:p>
        </p:txBody>
      </p:sp>
      <p:sp>
        <p:nvSpPr>
          <p:cNvPr id="16" name="TextBox 15"/>
          <p:cNvSpPr txBox="1"/>
          <p:nvPr/>
        </p:nvSpPr>
        <p:spPr>
          <a:xfrm>
            <a:off x="9509760" y="2468880"/>
            <a:ext cx="1280160" cy="274320"/>
          </a:xfrm>
          <a:prstGeom prst="rect">
            <a:avLst/>
          </a:prstGeom>
          <a:noFill/>
        </p:spPr>
        <p:txBody>
          <a:bodyPr wrap="square">
            <a:spAutoFit/>
          </a:bodyPr>
          <a:lstStyle/>
          <a:p>
            <a:pPr algn="l">
              <a:defRPr sz="1300" b="1" i="0">
                <a:solidFill>
                  <a:srgbClr val="EF5350"/>
                </a:solidFill>
                <a:latin typeface="Calibri"/>
              </a:defRPr>
            </a:pPr>
            <a:r>
              <a:t>-0.15 CATE</a:t>
            </a:r>
          </a:p>
        </p:txBody>
      </p:sp>
      <p:sp>
        <p:nvSpPr>
          <p:cNvPr id="17" name="TextBox 16"/>
          <p:cNvSpPr txBox="1"/>
          <p:nvPr/>
        </p:nvSpPr>
        <p:spPr>
          <a:xfrm>
            <a:off x="7223760" y="2761488"/>
            <a:ext cx="4389120" cy="274320"/>
          </a:xfrm>
          <a:prstGeom prst="rect">
            <a:avLst/>
          </a:prstGeom>
          <a:noFill/>
        </p:spPr>
        <p:txBody>
          <a:bodyPr wrap="square">
            <a:spAutoFit/>
          </a:bodyPr>
          <a:lstStyle/>
          <a:p>
            <a:pPr algn="l">
              <a:defRPr sz="1200" b="0" i="0">
                <a:solidFill>
                  <a:srgbClr val="909090"/>
                </a:solidFill>
                <a:latin typeface="Calibri"/>
              </a:defRPr>
            </a:pPr>
            <a:r>
              <a:t>Loafers, Dress</a:t>
            </a:r>
          </a:p>
        </p:txBody>
      </p:sp>
      <p:sp>
        <p:nvSpPr>
          <p:cNvPr id="18" name="Rounded Rectangle 17"/>
          <p:cNvSpPr/>
          <p:nvPr/>
        </p:nvSpPr>
        <p:spPr>
          <a:xfrm>
            <a:off x="7040880" y="3191256"/>
            <a:ext cx="4663440" cy="6400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3218688"/>
            <a:ext cx="1371600" cy="274320"/>
          </a:xfrm>
          <a:prstGeom prst="rect">
            <a:avLst/>
          </a:prstGeom>
          <a:noFill/>
        </p:spPr>
        <p:txBody>
          <a:bodyPr wrap="square">
            <a:spAutoFit/>
          </a:bodyPr>
          <a:lstStyle/>
          <a:p>
            <a:pPr algn="l">
              <a:defRPr sz="1400" b="1" i="0">
                <a:solidFill>
                  <a:srgbClr val="2C2C2C"/>
                </a:solidFill>
                <a:latin typeface="Calibri"/>
              </a:defRPr>
            </a:pPr>
            <a:r>
              <a:t>Cluster 2</a:t>
            </a:r>
          </a:p>
        </p:txBody>
      </p:sp>
      <p:sp>
        <p:nvSpPr>
          <p:cNvPr id="20" name="TextBox 19"/>
          <p:cNvSpPr txBox="1"/>
          <p:nvPr/>
        </p:nvSpPr>
        <p:spPr>
          <a:xfrm>
            <a:off x="8595360" y="3218688"/>
            <a:ext cx="914400" cy="274320"/>
          </a:xfrm>
          <a:prstGeom prst="rect">
            <a:avLst/>
          </a:prstGeom>
          <a:noFill/>
        </p:spPr>
        <p:txBody>
          <a:bodyPr wrap="square">
            <a:spAutoFit/>
          </a:bodyPr>
          <a:lstStyle/>
          <a:p>
            <a:pPr algn="l">
              <a:defRPr sz="1400" b="1" i="0">
                <a:solidFill>
                  <a:srgbClr val="909090"/>
                </a:solidFill>
                <a:latin typeface="Calibri"/>
              </a:defRPr>
            </a:pPr>
            <a:r>
              <a:t>~$87</a:t>
            </a:r>
          </a:p>
        </p:txBody>
      </p:sp>
      <p:sp>
        <p:nvSpPr>
          <p:cNvPr id="21" name="TextBox 20"/>
          <p:cNvSpPr txBox="1"/>
          <p:nvPr/>
        </p:nvSpPr>
        <p:spPr>
          <a:xfrm>
            <a:off x="9509760" y="3218688"/>
            <a:ext cx="1280160" cy="274320"/>
          </a:xfrm>
          <a:prstGeom prst="rect">
            <a:avLst/>
          </a:prstGeom>
          <a:noFill/>
        </p:spPr>
        <p:txBody>
          <a:bodyPr wrap="square">
            <a:spAutoFit/>
          </a:bodyPr>
          <a:lstStyle/>
          <a:p>
            <a:pPr algn="l">
              <a:defRPr sz="1300" b="1" i="0">
                <a:solidFill>
                  <a:srgbClr val="EF5350"/>
                </a:solidFill>
                <a:latin typeface="Calibri"/>
              </a:defRPr>
            </a:pPr>
            <a:r>
              <a:t>-0.34 CATE</a:t>
            </a:r>
          </a:p>
        </p:txBody>
      </p:sp>
      <p:sp>
        <p:nvSpPr>
          <p:cNvPr id="22" name="TextBox 21"/>
          <p:cNvSpPr txBox="1"/>
          <p:nvPr/>
        </p:nvSpPr>
        <p:spPr>
          <a:xfrm>
            <a:off x="7223760" y="3511296"/>
            <a:ext cx="4389120" cy="274320"/>
          </a:xfrm>
          <a:prstGeom prst="rect">
            <a:avLst/>
          </a:prstGeom>
          <a:noFill/>
        </p:spPr>
        <p:txBody>
          <a:bodyPr wrap="square">
            <a:spAutoFit/>
          </a:bodyPr>
          <a:lstStyle/>
          <a:p>
            <a:pPr algn="l">
              <a:defRPr sz="1200" b="0" i="0">
                <a:solidFill>
                  <a:srgbClr val="909090"/>
                </a:solidFill>
                <a:latin typeface="Calibri"/>
              </a:defRPr>
            </a:pPr>
            <a:r>
              <a:t>Premium Athletic</a:t>
            </a:r>
          </a:p>
        </p:txBody>
      </p:sp>
      <p:sp>
        <p:nvSpPr>
          <p:cNvPr id="23" name="Rounded Rectangle 22"/>
          <p:cNvSpPr/>
          <p:nvPr/>
        </p:nvSpPr>
        <p:spPr>
          <a:xfrm>
            <a:off x="7040880" y="3941064"/>
            <a:ext cx="4663440" cy="64008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68496"/>
            <a:ext cx="1371600" cy="274320"/>
          </a:xfrm>
          <a:prstGeom prst="rect">
            <a:avLst/>
          </a:prstGeom>
          <a:noFill/>
        </p:spPr>
        <p:txBody>
          <a:bodyPr wrap="square">
            <a:spAutoFit/>
          </a:bodyPr>
          <a:lstStyle/>
          <a:p>
            <a:pPr algn="l">
              <a:defRPr sz="1400" b="1" i="0">
                <a:solidFill>
                  <a:srgbClr val="2C2C2C"/>
                </a:solidFill>
                <a:latin typeface="Calibri"/>
              </a:defRPr>
            </a:pPr>
            <a:r>
              <a:t>Cluster 3</a:t>
            </a:r>
          </a:p>
        </p:txBody>
      </p:sp>
      <p:sp>
        <p:nvSpPr>
          <p:cNvPr id="25" name="TextBox 24"/>
          <p:cNvSpPr txBox="1"/>
          <p:nvPr/>
        </p:nvSpPr>
        <p:spPr>
          <a:xfrm>
            <a:off x="8595360" y="3968496"/>
            <a:ext cx="914400" cy="274320"/>
          </a:xfrm>
          <a:prstGeom prst="rect">
            <a:avLst/>
          </a:prstGeom>
          <a:noFill/>
        </p:spPr>
        <p:txBody>
          <a:bodyPr wrap="square">
            <a:spAutoFit/>
          </a:bodyPr>
          <a:lstStyle/>
          <a:p>
            <a:pPr algn="l">
              <a:defRPr sz="1400" b="1" i="0">
                <a:solidFill>
                  <a:srgbClr val="909090"/>
                </a:solidFill>
                <a:latin typeface="Calibri"/>
              </a:defRPr>
            </a:pPr>
            <a:r>
              <a:t>~$39</a:t>
            </a:r>
          </a:p>
        </p:txBody>
      </p:sp>
      <p:sp>
        <p:nvSpPr>
          <p:cNvPr id="26" name="TextBox 25"/>
          <p:cNvSpPr txBox="1"/>
          <p:nvPr/>
        </p:nvSpPr>
        <p:spPr>
          <a:xfrm>
            <a:off x="9509760" y="3968496"/>
            <a:ext cx="1280160" cy="274320"/>
          </a:xfrm>
          <a:prstGeom prst="rect">
            <a:avLst/>
          </a:prstGeom>
          <a:noFill/>
        </p:spPr>
        <p:txBody>
          <a:bodyPr wrap="square">
            <a:spAutoFit/>
          </a:bodyPr>
          <a:lstStyle/>
          <a:p>
            <a:pPr algn="l">
              <a:defRPr sz="1300" b="1" i="0">
                <a:solidFill>
                  <a:srgbClr val="EF5350"/>
                </a:solidFill>
                <a:latin typeface="Calibri"/>
              </a:defRPr>
            </a:pPr>
            <a:r>
              <a:t>-0.19 CATE</a:t>
            </a:r>
          </a:p>
        </p:txBody>
      </p:sp>
      <p:sp>
        <p:nvSpPr>
          <p:cNvPr id="27" name="TextBox 26"/>
          <p:cNvSpPr txBox="1"/>
          <p:nvPr/>
        </p:nvSpPr>
        <p:spPr>
          <a:xfrm>
            <a:off x="7223760" y="4261104"/>
            <a:ext cx="4389120" cy="274320"/>
          </a:xfrm>
          <a:prstGeom prst="rect">
            <a:avLst/>
          </a:prstGeom>
          <a:noFill/>
        </p:spPr>
        <p:txBody>
          <a:bodyPr wrap="square">
            <a:spAutoFit/>
          </a:bodyPr>
          <a:lstStyle/>
          <a:p>
            <a:pPr algn="l">
              <a:defRPr sz="1200" b="0" i="0">
                <a:solidFill>
                  <a:srgbClr val="909090"/>
                </a:solidFill>
                <a:latin typeface="Calibri"/>
              </a:defRPr>
            </a:pPr>
            <a:r>
              <a:t>Mixed Casual</a:t>
            </a:r>
          </a:p>
        </p:txBody>
      </p:sp>
      <p:sp>
        <p:nvSpPr>
          <p:cNvPr id="28" name="Rounded Rectangle 27"/>
          <p:cNvSpPr/>
          <p:nvPr/>
        </p:nvSpPr>
        <p:spPr>
          <a:xfrm>
            <a:off x="7040880" y="4690872"/>
            <a:ext cx="4663440" cy="6400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0" y="4718304"/>
            <a:ext cx="1371600" cy="274320"/>
          </a:xfrm>
          <a:prstGeom prst="rect">
            <a:avLst/>
          </a:prstGeom>
          <a:noFill/>
        </p:spPr>
        <p:txBody>
          <a:bodyPr wrap="square">
            <a:spAutoFit/>
          </a:bodyPr>
          <a:lstStyle/>
          <a:p>
            <a:pPr algn="l">
              <a:defRPr sz="1400" b="1" i="0">
                <a:solidFill>
                  <a:srgbClr val="2C2C2C"/>
                </a:solidFill>
                <a:latin typeface="Calibri"/>
              </a:defRPr>
            </a:pPr>
            <a:r>
              <a:t>Cluster 4</a:t>
            </a:r>
          </a:p>
        </p:txBody>
      </p:sp>
      <p:sp>
        <p:nvSpPr>
          <p:cNvPr id="30" name="TextBox 29"/>
          <p:cNvSpPr txBox="1"/>
          <p:nvPr/>
        </p:nvSpPr>
        <p:spPr>
          <a:xfrm>
            <a:off x="8595360" y="4718304"/>
            <a:ext cx="914400" cy="274320"/>
          </a:xfrm>
          <a:prstGeom prst="rect">
            <a:avLst/>
          </a:prstGeom>
          <a:noFill/>
        </p:spPr>
        <p:txBody>
          <a:bodyPr wrap="square">
            <a:spAutoFit/>
          </a:bodyPr>
          <a:lstStyle/>
          <a:p>
            <a:pPr algn="l">
              <a:defRPr sz="1400" b="1" i="0">
                <a:solidFill>
                  <a:srgbClr val="909090"/>
                </a:solidFill>
                <a:latin typeface="Calibri"/>
              </a:defRPr>
            </a:pPr>
            <a:r>
              <a:t>~$94</a:t>
            </a:r>
          </a:p>
        </p:txBody>
      </p:sp>
      <p:sp>
        <p:nvSpPr>
          <p:cNvPr id="31" name="TextBox 30"/>
          <p:cNvSpPr txBox="1"/>
          <p:nvPr/>
        </p:nvSpPr>
        <p:spPr>
          <a:xfrm>
            <a:off x="9509760" y="4718304"/>
            <a:ext cx="1280160" cy="274320"/>
          </a:xfrm>
          <a:prstGeom prst="rect">
            <a:avLst/>
          </a:prstGeom>
          <a:noFill/>
        </p:spPr>
        <p:txBody>
          <a:bodyPr wrap="square">
            <a:spAutoFit/>
          </a:bodyPr>
          <a:lstStyle/>
          <a:p>
            <a:pPr algn="l">
              <a:defRPr sz="1300" b="1" i="0">
                <a:solidFill>
                  <a:srgbClr val="EF5350"/>
                </a:solidFill>
                <a:latin typeface="Calibri"/>
              </a:defRPr>
            </a:pPr>
            <a:r>
              <a:t>-0.37 CATE</a:t>
            </a:r>
          </a:p>
        </p:txBody>
      </p:sp>
      <p:sp>
        <p:nvSpPr>
          <p:cNvPr id="32" name="TextBox 31"/>
          <p:cNvSpPr txBox="1"/>
          <p:nvPr/>
        </p:nvSpPr>
        <p:spPr>
          <a:xfrm>
            <a:off x="7223760" y="5010912"/>
            <a:ext cx="4389120" cy="274320"/>
          </a:xfrm>
          <a:prstGeom prst="rect">
            <a:avLst/>
          </a:prstGeom>
          <a:noFill/>
        </p:spPr>
        <p:txBody>
          <a:bodyPr wrap="square">
            <a:spAutoFit/>
          </a:bodyPr>
          <a:lstStyle/>
          <a:p>
            <a:pPr algn="l">
              <a:defRPr sz="1200" b="0" i="0">
                <a:solidFill>
                  <a:srgbClr val="909090"/>
                </a:solidFill>
                <a:latin typeface="Calibri"/>
              </a:defRPr>
            </a:pPr>
            <a:r>
              <a:t>Premium Performance</a:t>
            </a:r>
          </a:p>
        </p:txBody>
      </p:sp>
      <p:pic>
        <p:nvPicPr>
          <p:cNvPr id="33" name="Picture 32" descr="collage_cluster_img_0.png"/>
          <p:cNvPicPr>
            <a:picLocks noChangeAspect="1"/>
          </p:cNvPicPr>
          <p:nvPr/>
        </p:nvPicPr>
        <p:blipFill>
          <a:blip r:embed="rId3"/>
          <a:stretch>
            <a:fillRect/>
          </a:stretch>
        </p:blipFill>
        <p:spPr>
          <a:xfrm>
            <a:off x="274320" y="4846320"/>
            <a:ext cx="5486400" cy="1257300"/>
          </a:xfrm>
          <a:prstGeom prst="rect">
            <a:avLst/>
          </a:prstGeom>
        </p:spPr>
      </p:pic>
      <p:pic>
        <p:nvPicPr>
          <p:cNvPr id="34" name="Picture 33" descr="collage_cluster_img_2.png"/>
          <p:cNvPicPr>
            <a:picLocks noChangeAspect="1"/>
          </p:cNvPicPr>
          <p:nvPr/>
        </p:nvPicPr>
        <p:blipFill>
          <a:blip r:embed="rId4"/>
          <a:stretch>
            <a:fillRect/>
          </a:stretch>
        </p:blipFill>
        <p:spPr>
          <a:xfrm>
            <a:off x="5943600" y="5760720"/>
            <a:ext cx="5943600" cy="1362075"/>
          </a:xfrm>
          <a:prstGeom prst="rect">
            <a:avLst/>
          </a:prstGeom>
        </p:spPr>
      </p:pic>
      <p:sp>
        <p:nvSpPr>
          <p:cNvPr id="35" name="TextBox 34"/>
          <p:cNvSpPr txBox="1"/>
          <p:nvPr/>
        </p:nvSpPr>
        <p:spPr>
          <a:xfrm>
            <a:off x="274320" y="6217920"/>
            <a:ext cx="5486400" cy="274320"/>
          </a:xfrm>
          <a:prstGeom prst="rect">
            <a:avLst/>
          </a:prstGeom>
          <a:noFill/>
        </p:spPr>
        <p:txBody>
          <a:bodyPr wrap="square">
            <a:spAutoFit/>
          </a:bodyPr>
          <a:lstStyle/>
          <a:p>
            <a:pPr algn="ctr">
              <a:defRPr sz="1100" b="0" i="0">
                <a:solidFill>
                  <a:srgbClr val="909090"/>
                </a:solidFill>
                <a:latin typeface="Calibri"/>
              </a:defRPr>
            </a:pPr>
            <a:r>
              <a:t>Cluster 0: Budget walking/sneakers</a:t>
            </a:r>
          </a:p>
        </p:txBody>
      </p:sp>
      <p:sp>
        <p:nvSpPr>
          <p:cNvPr id="36" name="TextBox 35"/>
          <p:cNvSpPr txBox="1"/>
          <p:nvPr/>
        </p:nvSpPr>
        <p:spPr>
          <a:xfrm>
            <a:off x="5943600" y="6492240"/>
            <a:ext cx="5943600" cy="274320"/>
          </a:xfrm>
          <a:prstGeom prst="rect">
            <a:avLst/>
          </a:prstGeom>
          <a:noFill/>
        </p:spPr>
        <p:txBody>
          <a:bodyPr wrap="square">
            <a:spAutoFit/>
          </a:bodyPr>
          <a:lstStyle/>
          <a:p>
            <a:pPr algn="ctr">
              <a:defRPr sz="1100" b="0" i="0">
                <a:solidFill>
                  <a:srgbClr val="909090"/>
                </a:solidFill>
                <a:latin typeface="Calibri"/>
              </a:defRPr>
            </a:pPr>
            <a:r>
              <a:t>Cluster 2: Premium athletic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Double Machine Learning (DoubleML)</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Causal Inference for Price Elasticity</a:t>
            </a:r>
          </a:p>
        </p:txBody>
      </p:sp>
      <p:sp>
        <p:nvSpPr>
          <p:cNvPr id="5" name="Rounded Rectangle 4"/>
          <p:cNvSpPr/>
          <p:nvPr/>
        </p:nvSpPr>
        <p:spPr>
          <a:xfrm>
            <a:off x="365760" y="1188720"/>
            <a:ext cx="5669280" cy="228600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80160"/>
            <a:ext cx="5303520" cy="365760"/>
          </a:xfrm>
          <a:prstGeom prst="rect">
            <a:avLst/>
          </a:prstGeom>
          <a:noFill/>
        </p:spPr>
        <p:txBody>
          <a:bodyPr wrap="square">
            <a:spAutoFit/>
          </a:bodyPr>
          <a:lstStyle/>
          <a:p>
            <a:pPr algn="l">
              <a:defRPr sz="2200" b="1" i="0">
                <a:solidFill>
                  <a:srgbClr val="EF5350"/>
                </a:solidFill>
                <a:latin typeface="Calibri"/>
              </a:defRPr>
            </a:pPr>
            <a:r>
              <a:t>The Challenge</a:t>
            </a:r>
          </a:p>
        </p:txBody>
      </p:sp>
      <p:sp>
        <p:nvSpPr>
          <p:cNvPr id="7" name="TextBox 6"/>
          <p:cNvSpPr txBox="1"/>
          <p:nvPr/>
        </p:nvSpPr>
        <p:spPr>
          <a:xfrm>
            <a:off x="548640" y="1737360"/>
            <a:ext cx="5303520" cy="1554480"/>
          </a:xfrm>
          <a:prstGeom prst="rect">
            <a:avLst/>
          </a:prstGeom>
          <a:noFill/>
        </p:spPr>
        <p:txBody>
          <a:bodyPr wrap="square">
            <a:spAutoFit/>
          </a:bodyPr>
          <a:lstStyle/>
          <a:p>
            <a:pPr>
              <a:spcAft>
                <a:spcPts val="1000"/>
              </a:spcAft>
              <a:defRPr sz="1500">
                <a:solidFill>
                  <a:srgbClr val="2C2C2C"/>
                </a:solidFill>
                <a:latin typeface="Calibri"/>
              </a:defRPr>
            </a:pPr>
            <a:r>
              <a:t>"If price goes up 1%, how does demand change?"</a:t>
            </a:r>
          </a:p>
          <a:p>
            <a:pPr>
              <a:spcAft>
                <a:spcPts val="1000"/>
              </a:spcAft>
              <a:defRPr sz="1500">
                <a:solidFill>
                  <a:srgbClr val="2C2C2C"/>
                </a:solidFill>
                <a:latin typeface="Calibri"/>
              </a:defRPr>
            </a:pPr>
            <a:r>
              <a:t>Naive regression is biased: brand, quality,</a:t>
            </a:r>
          </a:p>
          <a:p>
            <a:pPr>
              <a:spcAft>
                <a:spcPts val="1000"/>
              </a:spcAft>
              <a:defRPr sz="1500">
                <a:solidFill>
                  <a:srgbClr val="2C2C2C"/>
                </a:solidFill>
                <a:latin typeface="Calibri"/>
              </a:defRPr>
            </a:pPr>
            <a:r>
              <a:t>  reviews all affect BOTH price and demand</a:t>
            </a:r>
          </a:p>
          <a:p>
            <a:pPr>
              <a:spcAft>
                <a:spcPts val="1000"/>
              </a:spcAft>
              <a:defRPr sz="1500">
                <a:solidFill>
                  <a:srgbClr val="2C2C2C"/>
                </a:solidFill>
                <a:latin typeface="Calibri"/>
              </a:defRPr>
            </a:pPr>
            <a:r>
              <a:t>We need to isolate the true causal effect</a:t>
            </a:r>
          </a:p>
        </p:txBody>
      </p:sp>
      <p:sp>
        <p:nvSpPr>
          <p:cNvPr id="8" name="Rounded Rectangle 7"/>
          <p:cNvSpPr/>
          <p:nvPr/>
        </p:nvSpPr>
        <p:spPr>
          <a:xfrm>
            <a:off x="6309360" y="1188720"/>
            <a:ext cx="5486400" cy="228600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80160"/>
            <a:ext cx="5120640" cy="365760"/>
          </a:xfrm>
          <a:prstGeom prst="rect">
            <a:avLst/>
          </a:prstGeom>
          <a:noFill/>
        </p:spPr>
        <p:txBody>
          <a:bodyPr wrap="square">
            <a:spAutoFit/>
          </a:bodyPr>
          <a:lstStyle/>
          <a:p>
            <a:pPr algn="l">
              <a:defRPr sz="2200" b="1" i="0">
                <a:solidFill>
                  <a:srgbClr val="26A69A"/>
                </a:solidFill>
                <a:latin typeface="Calibri"/>
              </a:defRPr>
            </a:pPr>
            <a:r>
              <a:t>DoubleML Solution</a:t>
            </a:r>
          </a:p>
        </p:txBody>
      </p:sp>
      <p:sp>
        <p:nvSpPr>
          <p:cNvPr id="10" name="TextBox 9"/>
          <p:cNvSpPr txBox="1"/>
          <p:nvPr/>
        </p:nvSpPr>
        <p:spPr>
          <a:xfrm>
            <a:off x="6492240" y="1737360"/>
            <a:ext cx="5120640" cy="1554480"/>
          </a:xfrm>
          <a:prstGeom prst="rect">
            <a:avLst/>
          </a:prstGeom>
          <a:noFill/>
        </p:spPr>
        <p:txBody>
          <a:bodyPr wrap="square">
            <a:spAutoFit/>
          </a:bodyPr>
          <a:lstStyle/>
          <a:p>
            <a:pPr>
              <a:spcAft>
                <a:spcPts val="1000"/>
              </a:spcAft>
              <a:defRPr sz="1500">
                <a:solidFill>
                  <a:srgbClr val="2C2C2C"/>
                </a:solidFill>
                <a:latin typeface="Calibri"/>
              </a:defRPr>
            </a:pPr>
            <a:r>
              <a:t>Stage 1: ML predicts sales rank AND price</a:t>
            </a:r>
          </a:p>
          <a:p>
            <a:pPr>
              <a:spcAft>
                <a:spcPts val="1000"/>
              </a:spcAft>
              <a:defRPr sz="1500">
                <a:solidFill>
                  <a:srgbClr val="2C2C2C"/>
                </a:solidFill>
                <a:latin typeface="Calibri"/>
              </a:defRPr>
            </a:pPr>
            <a:r>
              <a:t>  using embeddings as controls. Save residuals.</a:t>
            </a:r>
          </a:p>
          <a:p>
            <a:pPr>
              <a:spcAft>
                <a:spcPts val="1000"/>
              </a:spcAft>
              <a:defRPr sz="1500">
                <a:solidFill>
                  <a:srgbClr val="2C2C2C"/>
                </a:solidFill>
                <a:latin typeface="Calibri"/>
              </a:defRPr>
            </a:pPr>
            <a:r>
              <a:t>Stage 2: Regress residuals on each other.</a:t>
            </a:r>
          </a:p>
          <a:p>
            <a:pPr>
              <a:spcAft>
                <a:spcPts val="1000"/>
              </a:spcAft>
              <a:defRPr sz="1500">
                <a:solidFill>
                  <a:srgbClr val="2C2C2C"/>
                </a:solidFill>
                <a:latin typeface="Calibri"/>
              </a:defRPr>
            </a:pPr>
            <a:r>
              <a:t>Removes confounding, isolates true effect.</a:t>
            </a:r>
          </a:p>
        </p:txBody>
      </p:sp>
      <p:sp>
        <p:nvSpPr>
          <p:cNvPr id="11" name="Rounded Rectangle 10"/>
          <p:cNvSpPr/>
          <p:nvPr/>
        </p:nvSpPr>
        <p:spPr>
          <a:xfrm>
            <a:off x="365760" y="3749039"/>
            <a:ext cx="11430000" cy="137160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840480"/>
            <a:ext cx="10972800" cy="365760"/>
          </a:xfrm>
          <a:prstGeom prst="rect">
            <a:avLst/>
          </a:prstGeom>
          <a:noFill/>
        </p:spPr>
        <p:txBody>
          <a:bodyPr wrap="square">
            <a:spAutoFit/>
          </a:bodyPr>
          <a:lstStyle/>
          <a:p>
            <a:pPr algn="l">
              <a:defRPr sz="2000" b="1" i="0">
                <a:solidFill>
                  <a:srgbClr val="7E57C2"/>
                </a:solidFill>
                <a:latin typeface="Calibri"/>
              </a:defRPr>
            </a:pPr>
            <a:r>
              <a:t>Why AI Embeddings as Controls?</a:t>
            </a:r>
          </a:p>
        </p:txBody>
      </p:sp>
      <p:sp>
        <p:nvSpPr>
          <p:cNvPr id="13" name="TextBox 12"/>
          <p:cNvSpPr txBox="1"/>
          <p:nvPr/>
        </p:nvSpPr>
        <p:spPr>
          <a:xfrm>
            <a:off x="548640" y="4251960"/>
            <a:ext cx="10972800" cy="731520"/>
          </a:xfrm>
          <a:prstGeom prst="rect">
            <a:avLst/>
          </a:prstGeom>
          <a:noFill/>
        </p:spPr>
        <p:txBody>
          <a:bodyPr wrap="square">
            <a:spAutoFit/>
          </a:bodyPr>
          <a:lstStyle/>
          <a:p>
            <a:pPr algn="l">
              <a:defRPr sz="1500" b="0" i="0">
                <a:solidFill>
                  <a:srgbClr val="2C2C2C"/>
                </a:solidFill>
                <a:latin typeface="Calibri"/>
              </a:defRPr>
            </a:pPr>
            <a:r>
              <a:t>Traditional controls (brand, category) miss subtle product characteristics. Multimodal embeddings capture visual style, text semantics, and market positioning that humans recognize but standard variables cannot encode. Better controls = less omitted variable bias = more accurate elasticity.</a:t>
            </a:r>
          </a:p>
        </p:txBody>
      </p:sp>
      <p:sp>
        <p:nvSpPr>
          <p:cNvPr id="14" name="Rounded Rectangle 13"/>
          <p:cNvSpPr/>
          <p:nvPr/>
        </p:nvSpPr>
        <p:spPr>
          <a:xfrm>
            <a:off x="365760" y="5394960"/>
            <a:ext cx="11430000" cy="1188720"/>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440680"/>
            <a:ext cx="10972800" cy="320040"/>
          </a:xfrm>
          <a:prstGeom prst="rect">
            <a:avLst/>
          </a:prstGeom>
          <a:noFill/>
        </p:spPr>
        <p:txBody>
          <a:bodyPr wrap="square">
            <a:spAutoFit/>
          </a:bodyPr>
          <a:lstStyle/>
          <a:p>
            <a:pPr algn="l">
              <a:defRPr sz="1800" b="1" i="0">
                <a:solidFill>
                  <a:srgbClr val="F4843D"/>
                </a:solidFill>
                <a:latin typeface="Calibri"/>
              </a:defRPr>
            </a:pPr>
            <a:r>
              <a:t>Instrumental Variable: Weighted Substitute Price</a:t>
            </a:r>
          </a:p>
        </p:txBody>
      </p:sp>
      <p:sp>
        <p:nvSpPr>
          <p:cNvPr id="16" name="TextBox 15"/>
          <p:cNvSpPr txBox="1"/>
          <p:nvPr/>
        </p:nvSpPr>
        <p:spPr>
          <a:xfrm>
            <a:off x="548640" y="5806440"/>
            <a:ext cx="10972800" cy="640080"/>
          </a:xfrm>
          <a:prstGeom prst="rect">
            <a:avLst/>
          </a:prstGeom>
          <a:noFill/>
        </p:spPr>
        <p:txBody>
          <a:bodyPr wrap="square">
            <a:spAutoFit/>
          </a:bodyPr>
          <a:lstStyle/>
          <a:p>
            <a:pPr algn="l">
              <a:defRPr sz="1400" b="0" i="0">
                <a:solidFill>
                  <a:srgbClr val="2C2C2C"/>
                </a:solidFill>
                <a:latin typeface="Calibri"/>
              </a:defRPr>
            </a:pPr>
            <a:r>
              <a:t>Distance-weighted average price of 5 nearest neighbors in embedding space, lagged one period. Competitors' prices affect this product's demand (consumers can switch), but don't directly cause this product's price to change. Valid instrument for causal inference.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Price Elasticity Results: Men's Shoes</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DoubleML Partially Linear Regression (PLR)</a:t>
            </a:r>
          </a:p>
        </p:txBody>
      </p:sp>
      <p:pic>
        <p:nvPicPr>
          <p:cNvPr id="5" name="Picture 4" descr="forest_plot_dml_elasticity.png"/>
          <p:cNvPicPr>
            <a:picLocks noChangeAspect="1"/>
          </p:cNvPicPr>
          <p:nvPr/>
        </p:nvPicPr>
        <p:blipFill>
          <a:blip r:embed="rId2"/>
          <a:stretch>
            <a:fillRect/>
          </a:stretch>
        </p:blipFill>
        <p:spPr>
          <a:xfrm>
            <a:off x="182880" y="1097280"/>
            <a:ext cx="7315200" cy="3657600"/>
          </a:xfrm>
          <a:prstGeom prst="rect">
            <a:avLst/>
          </a:prstGeom>
        </p:spPr>
      </p:pic>
      <p:sp>
        <p:nvSpPr>
          <p:cNvPr id="6" name="Rounded Rectangle 5"/>
          <p:cNvSpPr/>
          <p:nvPr/>
        </p:nvSpPr>
        <p:spPr>
          <a:xfrm>
            <a:off x="7772400" y="1188720"/>
            <a:ext cx="4114800" cy="2743200"/>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280160"/>
            <a:ext cx="3749039" cy="365760"/>
          </a:xfrm>
          <a:prstGeom prst="rect">
            <a:avLst/>
          </a:prstGeom>
          <a:noFill/>
        </p:spPr>
        <p:txBody>
          <a:bodyPr wrap="square">
            <a:spAutoFit/>
          </a:bodyPr>
          <a:lstStyle/>
          <a:p>
            <a:pPr algn="l">
              <a:defRPr sz="2000" b="1" i="0">
                <a:solidFill>
                  <a:srgbClr val="F4843D"/>
                </a:solidFill>
                <a:latin typeface="Calibri"/>
              </a:defRPr>
            </a:pPr>
            <a:r>
              <a:t>Key Finding</a:t>
            </a:r>
          </a:p>
        </p:txBody>
      </p:sp>
      <p:sp>
        <p:nvSpPr>
          <p:cNvPr id="8" name="TextBox 7"/>
          <p:cNvSpPr txBox="1"/>
          <p:nvPr/>
        </p:nvSpPr>
        <p:spPr>
          <a:xfrm>
            <a:off x="7955279" y="1828800"/>
            <a:ext cx="3749039" cy="731520"/>
          </a:xfrm>
          <a:prstGeom prst="rect">
            <a:avLst/>
          </a:prstGeom>
          <a:noFill/>
        </p:spPr>
        <p:txBody>
          <a:bodyPr wrap="square">
            <a:spAutoFit/>
          </a:bodyPr>
          <a:lstStyle/>
          <a:p>
            <a:pPr algn="ctr">
              <a:defRPr sz="4800" b="1" i="0">
                <a:solidFill>
                  <a:srgbClr val="2C2C2C"/>
                </a:solidFill>
                <a:latin typeface="Calibri"/>
              </a:defRPr>
            </a:pPr>
            <a:r>
              <a:t>-0.095</a:t>
            </a:r>
          </a:p>
        </p:txBody>
      </p:sp>
      <p:sp>
        <p:nvSpPr>
          <p:cNvPr id="9" name="TextBox 8"/>
          <p:cNvSpPr txBox="1"/>
          <p:nvPr/>
        </p:nvSpPr>
        <p:spPr>
          <a:xfrm>
            <a:off x="7955279" y="2651760"/>
            <a:ext cx="3749039" cy="731520"/>
          </a:xfrm>
          <a:prstGeom prst="rect">
            <a:avLst/>
          </a:prstGeom>
          <a:noFill/>
        </p:spPr>
        <p:txBody>
          <a:bodyPr wrap="square">
            <a:spAutoFit/>
          </a:bodyPr>
          <a:lstStyle/>
          <a:p>
            <a:pPr algn="ctr">
              <a:defRPr sz="1400" b="0" i="0">
                <a:solidFill>
                  <a:srgbClr val="2C2C2C"/>
                </a:solidFill>
                <a:latin typeface="Calibri"/>
              </a:defRPr>
            </a:pPr>
            <a:r>
              <a:t>1% price increase leads to</a:t>
            </a:r>
            <a:br/>
            <a:r>
              <a:t>~0.095% worsening in sales rank</a:t>
            </a:r>
            <a:br/>
            <a:br/>
            <a:r>
              <a:t>All specs significant (p &lt; 0.01)</a:t>
            </a:r>
          </a:p>
        </p:txBody>
      </p:sp>
      <p:sp>
        <p:nvSpPr>
          <p:cNvPr id="10" name="Rounded Rectangle 9"/>
          <p:cNvSpPr/>
          <p:nvPr/>
        </p:nvSpPr>
        <p:spPr>
          <a:xfrm>
            <a:off x="7772400" y="4114800"/>
            <a:ext cx="4114800" cy="25603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4160520"/>
            <a:ext cx="3749039" cy="320040"/>
          </a:xfrm>
          <a:prstGeom prst="rect">
            <a:avLst/>
          </a:prstGeom>
          <a:noFill/>
        </p:spPr>
        <p:txBody>
          <a:bodyPr wrap="square">
            <a:spAutoFit/>
          </a:bodyPr>
          <a:lstStyle/>
          <a:p>
            <a:pPr algn="l">
              <a:defRPr sz="1700" b="1" i="0">
                <a:solidFill>
                  <a:srgbClr val="2C2C2C"/>
                </a:solidFill>
                <a:latin typeface="Calibri"/>
              </a:defRPr>
            </a:pPr>
            <a:r>
              <a:t>PLR Specifications</a:t>
            </a:r>
          </a:p>
        </p:txBody>
      </p:sp>
      <p:sp>
        <p:nvSpPr>
          <p:cNvPr id="12" name="TextBox 11"/>
          <p:cNvSpPr txBox="1"/>
          <p:nvPr/>
        </p:nvSpPr>
        <p:spPr>
          <a:xfrm>
            <a:off x="8046720" y="4572000"/>
            <a:ext cx="2560320" cy="320040"/>
          </a:xfrm>
          <a:prstGeom prst="rect">
            <a:avLst/>
          </a:prstGeom>
          <a:noFill/>
        </p:spPr>
        <p:txBody>
          <a:bodyPr wrap="square">
            <a:spAutoFit/>
          </a:bodyPr>
          <a:lstStyle/>
          <a:p>
            <a:pPr algn="l">
              <a:defRPr sz="1400" b="0" i="0">
                <a:solidFill>
                  <a:srgbClr val="2C2C2C"/>
                </a:solidFill>
                <a:latin typeface="Calibri"/>
              </a:defRPr>
            </a:pPr>
            <a:r>
              <a:t>+ Embeddings</a:t>
            </a:r>
          </a:p>
        </p:txBody>
      </p:sp>
      <p:sp>
        <p:nvSpPr>
          <p:cNvPr id="13" name="TextBox 12"/>
          <p:cNvSpPr txBox="1"/>
          <p:nvPr/>
        </p:nvSpPr>
        <p:spPr>
          <a:xfrm>
            <a:off x="10515600" y="4572000"/>
            <a:ext cx="1188720" cy="320040"/>
          </a:xfrm>
          <a:prstGeom prst="rect">
            <a:avLst/>
          </a:prstGeom>
          <a:noFill/>
        </p:spPr>
        <p:txBody>
          <a:bodyPr wrap="square">
            <a:spAutoFit/>
          </a:bodyPr>
          <a:lstStyle/>
          <a:p>
            <a:pPr algn="r">
              <a:defRPr sz="1400" b="1" i="0">
                <a:solidFill>
                  <a:srgbClr val="EF5350"/>
                </a:solidFill>
                <a:latin typeface="Calibri"/>
              </a:defRPr>
            </a:pPr>
            <a:r>
              <a:t>-0.104</a:t>
            </a:r>
          </a:p>
        </p:txBody>
      </p:sp>
      <p:sp>
        <p:nvSpPr>
          <p:cNvPr id="14" name="TextBox 13"/>
          <p:cNvSpPr txBox="1"/>
          <p:nvPr/>
        </p:nvSpPr>
        <p:spPr>
          <a:xfrm>
            <a:off x="8046720" y="4956048"/>
            <a:ext cx="2560320" cy="320040"/>
          </a:xfrm>
          <a:prstGeom prst="rect">
            <a:avLst/>
          </a:prstGeom>
          <a:noFill/>
        </p:spPr>
        <p:txBody>
          <a:bodyPr wrap="square">
            <a:spAutoFit/>
          </a:bodyPr>
          <a:lstStyle/>
          <a:p>
            <a:pPr algn="l">
              <a:defRPr sz="1400" b="0" i="0">
                <a:solidFill>
                  <a:srgbClr val="2C2C2C"/>
                </a:solidFill>
                <a:latin typeface="Calibri"/>
              </a:defRPr>
            </a:pPr>
            <a:r>
              <a:t>+ Controls</a:t>
            </a:r>
          </a:p>
        </p:txBody>
      </p:sp>
      <p:sp>
        <p:nvSpPr>
          <p:cNvPr id="15" name="TextBox 14"/>
          <p:cNvSpPr txBox="1"/>
          <p:nvPr/>
        </p:nvSpPr>
        <p:spPr>
          <a:xfrm>
            <a:off x="10515600" y="4956048"/>
            <a:ext cx="1188720" cy="320040"/>
          </a:xfrm>
          <a:prstGeom prst="rect">
            <a:avLst/>
          </a:prstGeom>
          <a:noFill/>
        </p:spPr>
        <p:txBody>
          <a:bodyPr wrap="square">
            <a:spAutoFit/>
          </a:bodyPr>
          <a:lstStyle/>
          <a:p>
            <a:pPr algn="r">
              <a:defRPr sz="1400" b="1" i="0">
                <a:solidFill>
                  <a:srgbClr val="EF5350"/>
                </a:solidFill>
                <a:latin typeface="Calibri"/>
              </a:defRPr>
            </a:pPr>
            <a:r>
              <a:t>-0.093</a:t>
            </a:r>
          </a:p>
        </p:txBody>
      </p:sp>
      <p:sp>
        <p:nvSpPr>
          <p:cNvPr id="16" name="TextBox 15"/>
          <p:cNvSpPr txBox="1"/>
          <p:nvPr/>
        </p:nvSpPr>
        <p:spPr>
          <a:xfrm>
            <a:off x="8046720" y="5340096"/>
            <a:ext cx="2560320" cy="320040"/>
          </a:xfrm>
          <a:prstGeom prst="rect">
            <a:avLst/>
          </a:prstGeom>
          <a:noFill/>
        </p:spPr>
        <p:txBody>
          <a:bodyPr wrap="square">
            <a:spAutoFit/>
          </a:bodyPr>
          <a:lstStyle/>
          <a:p>
            <a:pPr algn="l">
              <a:defRPr sz="1400" b="0" i="0">
                <a:solidFill>
                  <a:srgbClr val="2C2C2C"/>
                </a:solidFill>
                <a:latin typeface="Calibri"/>
              </a:defRPr>
            </a:pPr>
            <a:r>
              <a:t>+ Emb + Controls</a:t>
            </a:r>
          </a:p>
        </p:txBody>
      </p:sp>
      <p:sp>
        <p:nvSpPr>
          <p:cNvPr id="17" name="TextBox 16"/>
          <p:cNvSpPr txBox="1"/>
          <p:nvPr/>
        </p:nvSpPr>
        <p:spPr>
          <a:xfrm>
            <a:off x="10515600" y="5340096"/>
            <a:ext cx="1188720" cy="320040"/>
          </a:xfrm>
          <a:prstGeom prst="rect">
            <a:avLst/>
          </a:prstGeom>
          <a:noFill/>
        </p:spPr>
        <p:txBody>
          <a:bodyPr wrap="square">
            <a:spAutoFit/>
          </a:bodyPr>
          <a:lstStyle/>
          <a:p>
            <a:pPr algn="r">
              <a:defRPr sz="1400" b="1" i="0">
                <a:solidFill>
                  <a:srgbClr val="EF5350"/>
                </a:solidFill>
                <a:latin typeface="Calibri"/>
              </a:defRPr>
            </a:pPr>
            <a:r>
              <a:t>-0.095</a:t>
            </a:r>
          </a:p>
        </p:txBody>
      </p:sp>
      <p:sp>
        <p:nvSpPr>
          <p:cNvPr id="18" name="TextBox 17"/>
          <p:cNvSpPr txBox="1"/>
          <p:nvPr/>
        </p:nvSpPr>
        <p:spPr>
          <a:xfrm>
            <a:off x="8046720" y="5724144"/>
            <a:ext cx="2560320" cy="320040"/>
          </a:xfrm>
          <a:prstGeom prst="rect">
            <a:avLst/>
          </a:prstGeom>
          <a:noFill/>
        </p:spPr>
        <p:txBody>
          <a:bodyPr wrap="square">
            <a:spAutoFit/>
          </a:bodyPr>
          <a:lstStyle/>
          <a:p>
            <a:pPr algn="l">
              <a:defRPr sz="1400" b="0" i="0">
                <a:solidFill>
                  <a:srgbClr val="2C2C2C"/>
                </a:solidFill>
                <a:latin typeface="Calibri"/>
              </a:defRPr>
            </a:pPr>
            <a:r>
              <a:t>+ Sim + Controls</a:t>
            </a:r>
          </a:p>
        </p:txBody>
      </p:sp>
      <p:sp>
        <p:nvSpPr>
          <p:cNvPr id="19" name="TextBox 18"/>
          <p:cNvSpPr txBox="1"/>
          <p:nvPr/>
        </p:nvSpPr>
        <p:spPr>
          <a:xfrm>
            <a:off x="10515600" y="5724144"/>
            <a:ext cx="1188720" cy="320040"/>
          </a:xfrm>
          <a:prstGeom prst="rect">
            <a:avLst/>
          </a:prstGeom>
          <a:noFill/>
        </p:spPr>
        <p:txBody>
          <a:bodyPr wrap="square">
            <a:spAutoFit/>
          </a:bodyPr>
          <a:lstStyle/>
          <a:p>
            <a:pPr algn="r">
              <a:defRPr sz="1400" b="1" i="0">
                <a:solidFill>
                  <a:srgbClr val="EF5350"/>
                </a:solidFill>
                <a:latin typeface="Calibri"/>
              </a:defRPr>
            </a:pPr>
            <a:r>
              <a:t>-0.084</a:t>
            </a:r>
          </a:p>
        </p:txBody>
      </p:sp>
      <p:sp>
        <p:nvSpPr>
          <p:cNvPr id="20" name="TextBox 19"/>
          <p:cNvSpPr txBox="1"/>
          <p:nvPr/>
        </p:nvSpPr>
        <p:spPr>
          <a:xfrm>
            <a:off x="8046720" y="6108192"/>
            <a:ext cx="2560320" cy="320040"/>
          </a:xfrm>
          <a:prstGeom prst="rect">
            <a:avLst/>
          </a:prstGeom>
          <a:noFill/>
        </p:spPr>
        <p:txBody>
          <a:bodyPr wrap="square">
            <a:spAutoFit/>
          </a:bodyPr>
          <a:lstStyle/>
          <a:p>
            <a:pPr algn="l">
              <a:defRPr sz="1400" b="0" i="0">
                <a:solidFill>
                  <a:srgbClr val="2C2C2C"/>
                </a:solidFill>
                <a:latin typeface="Calibri"/>
              </a:defRPr>
            </a:pPr>
            <a:r>
              <a:t>+ PCA + Controls</a:t>
            </a:r>
          </a:p>
        </p:txBody>
      </p:sp>
      <p:sp>
        <p:nvSpPr>
          <p:cNvPr id="21" name="TextBox 20"/>
          <p:cNvSpPr txBox="1"/>
          <p:nvPr/>
        </p:nvSpPr>
        <p:spPr>
          <a:xfrm>
            <a:off x="10515600" y="6108192"/>
            <a:ext cx="1188720" cy="320040"/>
          </a:xfrm>
          <a:prstGeom prst="rect">
            <a:avLst/>
          </a:prstGeom>
          <a:noFill/>
        </p:spPr>
        <p:txBody>
          <a:bodyPr wrap="square">
            <a:spAutoFit/>
          </a:bodyPr>
          <a:lstStyle/>
          <a:p>
            <a:pPr algn="r">
              <a:defRPr sz="1400" b="1" i="0">
                <a:solidFill>
                  <a:srgbClr val="EF5350"/>
                </a:solidFill>
                <a:latin typeface="Calibri"/>
              </a:defRPr>
            </a:pPr>
            <a:r>
              <a:t>-0.074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Heterogeneous Effects (CATE)</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How Price Sensitivity Varies Across Product Clusters  |  Men's Shoes</a:t>
            </a:r>
          </a:p>
        </p:txBody>
      </p:sp>
      <p:pic>
        <p:nvPicPr>
          <p:cNvPr id="5" name="Picture 4" descr="cate_scatter_per_cluster.png"/>
          <p:cNvPicPr>
            <a:picLocks noChangeAspect="1"/>
          </p:cNvPicPr>
          <p:nvPr/>
        </p:nvPicPr>
        <p:blipFill>
          <a:blip r:embed="rId2"/>
          <a:stretch>
            <a:fillRect/>
          </a:stretch>
        </p:blipFill>
        <p:spPr>
          <a:xfrm>
            <a:off x="182880" y="1097280"/>
            <a:ext cx="7315200" cy="1904057"/>
          </a:xfrm>
          <a:prstGeom prst="rect">
            <a:avLst/>
          </a:prstGeom>
        </p:spPr>
      </p:pic>
      <p:sp>
        <p:nvSpPr>
          <p:cNvPr id="6" name="Rounded Rectangle 5"/>
          <p:cNvSpPr/>
          <p:nvPr/>
        </p:nvSpPr>
        <p:spPr>
          <a:xfrm>
            <a:off x="7589520" y="1097280"/>
            <a:ext cx="4297680" cy="475488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188720"/>
            <a:ext cx="3931920" cy="320040"/>
          </a:xfrm>
          <a:prstGeom prst="rect">
            <a:avLst/>
          </a:prstGeom>
          <a:noFill/>
        </p:spPr>
        <p:txBody>
          <a:bodyPr wrap="square">
            <a:spAutoFit/>
          </a:bodyPr>
          <a:lstStyle/>
          <a:p>
            <a:pPr algn="l">
              <a:defRPr sz="1800" b="1" i="0">
                <a:solidFill>
                  <a:srgbClr val="2C2C2C"/>
                </a:solidFill>
                <a:latin typeface="Calibri"/>
              </a:defRPr>
            </a:pPr>
            <a:r>
              <a:t>Price Sensitivity by Cluster</a:t>
            </a:r>
          </a:p>
        </p:txBody>
      </p:sp>
      <p:sp>
        <p:nvSpPr>
          <p:cNvPr id="8" name="Rounded Rectangle 7"/>
          <p:cNvSpPr/>
          <p:nvPr/>
        </p:nvSpPr>
        <p:spPr>
          <a:xfrm>
            <a:off x="7772400" y="1645920"/>
            <a:ext cx="3931920" cy="658368"/>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64208"/>
            <a:ext cx="822960" cy="301752"/>
          </a:xfrm>
          <a:prstGeom prst="rect">
            <a:avLst/>
          </a:prstGeom>
          <a:noFill/>
        </p:spPr>
        <p:txBody>
          <a:bodyPr wrap="square">
            <a:spAutoFit/>
          </a:bodyPr>
          <a:lstStyle/>
          <a:p>
            <a:pPr algn="l">
              <a:defRPr sz="1400" b="1" i="0">
                <a:solidFill>
                  <a:srgbClr val="2C2C2C"/>
                </a:solidFill>
                <a:latin typeface="Calibri"/>
              </a:defRPr>
            </a:pPr>
            <a:r>
              <a:t>Cl. 0</a:t>
            </a:r>
          </a:p>
        </p:txBody>
      </p:sp>
      <p:sp>
        <p:nvSpPr>
          <p:cNvPr id="10" name="TextBox 9"/>
          <p:cNvSpPr txBox="1"/>
          <p:nvPr/>
        </p:nvSpPr>
        <p:spPr>
          <a:xfrm>
            <a:off x="8686800" y="1664208"/>
            <a:ext cx="731520" cy="301752"/>
          </a:xfrm>
          <a:prstGeom prst="rect">
            <a:avLst/>
          </a:prstGeom>
          <a:noFill/>
        </p:spPr>
        <p:txBody>
          <a:bodyPr wrap="square">
            <a:spAutoFit/>
          </a:bodyPr>
          <a:lstStyle/>
          <a:p>
            <a:pPr algn="l">
              <a:defRPr sz="1400" b="0" i="0">
                <a:solidFill>
                  <a:srgbClr val="909090"/>
                </a:solidFill>
                <a:latin typeface="Calibri"/>
              </a:defRPr>
            </a:pPr>
            <a:r>
              <a:t>$31</a:t>
            </a:r>
          </a:p>
        </p:txBody>
      </p:sp>
      <p:sp>
        <p:nvSpPr>
          <p:cNvPr id="11" name="TextBox 10"/>
          <p:cNvSpPr txBox="1"/>
          <p:nvPr/>
        </p:nvSpPr>
        <p:spPr>
          <a:xfrm>
            <a:off x="9509760" y="1664208"/>
            <a:ext cx="1097280" cy="301752"/>
          </a:xfrm>
          <a:prstGeom prst="rect">
            <a:avLst/>
          </a:prstGeom>
          <a:noFill/>
        </p:spPr>
        <p:txBody>
          <a:bodyPr wrap="square">
            <a:spAutoFit/>
          </a:bodyPr>
          <a:lstStyle/>
          <a:p>
            <a:pPr algn="l">
              <a:defRPr sz="1400" b="1" i="0">
                <a:solidFill>
                  <a:srgbClr val="EF5350"/>
                </a:solidFill>
                <a:latin typeface="Calibri"/>
              </a:defRPr>
            </a:pPr>
            <a:r>
              <a:t>-0.12</a:t>
            </a:r>
          </a:p>
        </p:txBody>
      </p:sp>
      <p:sp>
        <p:nvSpPr>
          <p:cNvPr id="12" name="TextBox 11"/>
          <p:cNvSpPr txBox="1"/>
          <p:nvPr/>
        </p:nvSpPr>
        <p:spPr>
          <a:xfrm>
            <a:off x="7863840" y="1975104"/>
            <a:ext cx="3657600" cy="274320"/>
          </a:xfrm>
          <a:prstGeom prst="rect">
            <a:avLst/>
          </a:prstGeom>
          <a:noFill/>
        </p:spPr>
        <p:txBody>
          <a:bodyPr wrap="square">
            <a:spAutoFit/>
          </a:bodyPr>
          <a:lstStyle/>
          <a:p>
            <a:pPr algn="l">
              <a:defRPr sz="1200" b="0" i="0">
                <a:solidFill>
                  <a:srgbClr val="909090"/>
                </a:solidFill>
                <a:latin typeface="Calibri"/>
              </a:defRPr>
            </a:pPr>
            <a:r>
              <a:t>Budget walking</a:t>
            </a:r>
          </a:p>
        </p:txBody>
      </p:sp>
      <p:sp>
        <p:nvSpPr>
          <p:cNvPr id="13" name="Rounded Rectangle 12"/>
          <p:cNvSpPr/>
          <p:nvPr/>
        </p:nvSpPr>
        <p:spPr>
          <a:xfrm>
            <a:off x="7772400" y="2423160"/>
            <a:ext cx="3931920" cy="658368"/>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441448"/>
            <a:ext cx="822960" cy="301752"/>
          </a:xfrm>
          <a:prstGeom prst="rect">
            <a:avLst/>
          </a:prstGeom>
          <a:noFill/>
        </p:spPr>
        <p:txBody>
          <a:bodyPr wrap="square">
            <a:spAutoFit/>
          </a:bodyPr>
          <a:lstStyle/>
          <a:p>
            <a:pPr algn="l">
              <a:defRPr sz="1400" b="1" i="0">
                <a:solidFill>
                  <a:srgbClr val="2C2C2C"/>
                </a:solidFill>
                <a:latin typeface="Calibri"/>
              </a:defRPr>
            </a:pPr>
            <a:r>
              <a:t>Cl. 1</a:t>
            </a:r>
          </a:p>
        </p:txBody>
      </p:sp>
      <p:sp>
        <p:nvSpPr>
          <p:cNvPr id="15" name="TextBox 14"/>
          <p:cNvSpPr txBox="1"/>
          <p:nvPr/>
        </p:nvSpPr>
        <p:spPr>
          <a:xfrm>
            <a:off x="8686800" y="2441448"/>
            <a:ext cx="731520" cy="301752"/>
          </a:xfrm>
          <a:prstGeom prst="rect">
            <a:avLst/>
          </a:prstGeom>
          <a:noFill/>
        </p:spPr>
        <p:txBody>
          <a:bodyPr wrap="square">
            <a:spAutoFit/>
          </a:bodyPr>
          <a:lstStyle/>
          <a:p>
            <a:pPr algn="l">
              <a:defRPr sz="1400" b="0" i="0">
                <a:solidFill>
                  <a:srgbClr val="909090"/>
                </a:solidFill>
                <a:latin typeface="Calibri"/>
              </a:defRPr>
            </a:pPr>
            <a:r>
              <a:t>$42</a:t>
            </a:r>
          </a:p>
        </p:txBody>
      </p:sp>
      <p:sp>
        <p:nvSpPr>
          <p:cNvPr id="16" name="TextBox 15"/>
          <p:cNvSpPr txBox="1"/>
          <p:nvPr/>
        </p:nvSpPr>
        <p:spPr>
          <a:xfrm>
            <a:off x="9509760" y="2441448"/>
            <a:ext cx="1097280" cy="301752"/>
          </a:xfrm>
          <a:prstGeom prst="rect">
            <a:avLst/>
          </a:prstGeom>
          <a:noFill/>
        </p:spPr>
        <p:txBody>
          <a:bodyPr wrap="square">
            <a:spAutoFit/>
          </a:bodyPr>
          <a:lstStyle/>
          <a:p>
            <a:pPr algn="l">
              <a:defRPr sz="1400" b="1" i="0">
                <a:solidFill>
                  <a:srgbClr val="EF5350"/>
                </a:solidFill>
                <a:latin typeface="Calibri"/>
              </a:defRPr>
            </a:pPr>
            <a:r>
              <a:t>-0.15</a:t>
            </a:r>
          </a:p>
        </p:txBody>
      </p:sp>
      <p:sp>
        <p:nvSpPr>
          <p:cNvPr id="17" name="TextBox 16"/>
          <p:cNvSpPr txBox="1"/>
          <p:nvPr/>
        </p:nvSpPr>
        <p:spPr>
          <a:xfrm>
            <a:off x="7863840" y="2752344"/>
            <a:ext cx="3657600" cy="274320"/>
          </a:xfrm>
          <a:prstGeom prst="rect">
            <a:avLst/>
          </a:prstGeom>
          <a:noFill/>
        </p:spPr>
        <p:txBody>
          <a:bodyPr wrap="square">
            <a:spAutoFit/>
          </a:bodyPr>
          <a:lstStyle/>
          <a:p>
            <a:pPr algn="l">
              <a:defRPr sz="1200" b="0" i="0">
                <a:solidFill>
                  <a:srgbClr val="909090"/>
                </a:solidFill>
                <a:latin typeface="Calibri"/>
              </a:defRPr>
            </a:pPr>
            <a:r>
              <a:t>Loafers, dress</a:t>
            </a:r>
          </a:p>
        </p:txBody>
      </p:sp>
      <p:sp>
        <p:nvSpPr>
          <p:cNvPr id="18" name="Rounded Rectangle 17"/>
          <p:cNvSpPr/>
          <p:nvPr/>
        </p:nvSpPr>
        <p:spPr>
          <a:xfrm>
            <a:off x="7772400" y="3200400"/>
            <a:ext cx="3931920" cy="65836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218688"/>
            <a:ext cx="822960" cy="301752"/>
          </a:xfrm>
          <a:prstGeom prst="rect">
            <a:avLst/>
          </a:prstGeom>
          <a:noFill/>
        </p:spPr>
        <p:txBody>
          <a:bodyPr wrap="square">
            <a:spAutoFit/>
          </a:bodyPr>
          <a:lstStyle/>
          <a:p>
            <a:pPr algn="l">
              <a:defRPr sz="1400" b="1" i="0">
                <a:solidFill>
                  <a:srgbClr val="2C2C2C"/>
                </a:solidFill>
                <a:latin typeface="Calibri"/>
              </a:defRPr>
            </a:pPr>
            <a:r>
              <a:t>Cl. 2</a:t>
            </a:r>
          </a:p>
        </p:txBody>
      </p:sp>
      <p:sp>
        <p:nvSpPr>
          <p:cNvPr id="20" name="TextBox 19"/>
          <p:cNvSpPr txBox="1"/>
          <p:nvPr/>
        </p:nvSpPr>
        <p:spPr>
          <a:xfrm>
            <a:off x="8686800" y="3218688"/>
            <a:ext cx="731520" cy="301752"/>
          </a:xfrm>
          <a:prstGeom prst="rect">
            <a:avLst/>
          </a:prstGeom>
          <a:noFill/>
        </p:spPr>
        <p:txBody>
          <a:bodyPr wrap="square">
            <a:spAutoFit/>
          </a:bodyPr>
          <a:lstStyle/>
          <a:p>
            <a:pPr algn="l">
              <a:defRPr sz="1400" b="0" i="0">
                <a:solidFill>
                  <a:srgbClr val="909090"/>
                </a:solidFill>
                <a:latin typeface="Calibri"/>
              </a:defRPr>
            </a:pPr>
            <a:r>
              <a:t>$87</a:t>
            </a:r>
          </a:p>
        </p:txBody>
      </p:sp>
      <p:sp>
        <p:nvSpPr>
          <p:cNvPr id="21" name="TextBox 20"/>
          <p:cNvSpPr txBox="1"/>
          <p:nvPr/>
        </p:nvSpPr>
        <p:spPr>
          <a:xfrm>
            <a:off x="9509760" y="3218688"/>
            <a:ext cx="1097280" cy="301752"/>
          </a:xfrm>
          <a:prstGeom prst="rect">
            <a:avLst/>
          </a:prstGeom>
          <a:noFill/>
        </p:spPr>
        <p:txBody>
          <a:bodyPr wrap="square">
            <a:spAutoFit/>
          </a:bodyPr>
          <a:lstStyle/>
          <a:p>
            <a:pPr algn="l">
              <a:defRPr sz="1400" b="1" i="0">
                <a:solidFill>
                  <a:srgbClr val="EF5350"/>
                </a:solidFill>
                <a:latin typeface="Calibri"/>
              </a:defRPr>
            </a:pPr>
            <a:r>
              <a:t>-0.34</a:t>
            </a:r>
          </a:p>
        </p:txBody>
      </p:sp>
      <p:sp>
        <p:nvSpPr>
          <p:cNvPr id="22" name="TextBox 21"/>
          <p:cNvSpPr txBox="1"/>
          <p:nvPr/>
        </p:nvSpPr>
        <p:spPr>
          <a:xfrm>
            <a:off x="7863840" y="3529584"/>
            <a:ext cx="3657600" cy="274320"/>
          </a:xfrm>
          <a:prstGeom prst="rect">
            <a:avLst/>
          </a:prstGeom>
          <a:noFill/>
        </p:spPr>
        <p:txBody>
          <a:bodyPr wrap="square">
            <a:spAutoFit/>
          </a:bodyPr>
          <a:lstStyle/>
          <a:p>
            <a:pPr algn="l">
              <a:defRPr sz="1200" b="0" i="0">
                <a:solidFill>
                  <a:srgbClr val="909090"/>
                </a:solidFill>
                <a:latin typeface="Calibri"/>
              </a:defRPr>
            </a:pPr>
            <a:r>
              <a:t>Premium athletic</a:t>
            </a:r>
          </a:p>
        </p:txBody>
      </p:sp>
      <p:sp>
        <p:nvSpPr>
          <p:cNvPr id="23" name="Rounded Rectangle 22"/>
          <p:cNvSpPr/>
          <p:nvPr/>
        </p:nvSpPr>
        <p:spPr>
          <a:xfrm>
            <a:off x="7772400" y="3977639"/>
            <a:ext cx="3931920" cy="658368"/>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3995927"/>
            <a:ext cx="822960" cy="301752"/>
          </a:xfrm>
          <a:prstGeom prst="rect">
            <a:avLst/>
          </a:prstGeom>
          <a:noFill/>
        </p:spPr>
        <p:txBody>
          <a:bodyPr wrap="square">
            <a:spAutoFit/>
          </a:bodyPr>
          <a:lstStyle/>
          <a:p>
            <a:pPr algn="l">
              <a:defRPr sz="1400" b="1" i="0">
                <a:solidFill>
                  <a:srgbClr val="2C2C2C"/>
                </a:solidFill>
                <a:latin typeface="Calibri"/>
              </a:defRPr>
            </a:pPr>
            <a:r>
              <a:t>Cl. 3</a:t>
            </a:r>
          </a:p>
        </p:txBody>
      </p:sp>
      <p:sp>
        <p:nvSpPr>
          <p:cNvPr id="25" name="TextBox 24"/>
          <p:cNvSpPr txBox="1"/>
          <p:nvPr/>
        </p:nvSpPr>
        <p:spPr>
          <a:xfrm>
            <a:off x="8686800" y="3995927"/>
            <a:ext cx="731520" cy="301752"/>
          </a:xfrm>
          <a:prstGeom prst="rect">
            <a:avLst/>
          </a:prstGeom>
          <a:noFill/>
        </p:spPr>
        <p:txBody>
          <a:bodyPr wrap="square">
            <a:spAutoFit/>
          </a:bodyPr>
          <a:lstStyle/>
          <a:p>
            <a:pPr algn="l">
              <a:defRPr sz="1400" b="0" i="0">
                <a:solidFill>
                  <a:srgbClr val="909090"/>
                </a:solidFill>
                <a:latin typeface="Calibri"/>
              </a:defRPr>
            </a:pPr>
            <a:r>
              <a:t>$39</a:t>
            </a:r>
          </a:p>
        </p:txBody>
      </p:sp>
      <p:sp>
        <p:nvSpPr>
          <p:cNvPr id="26" name="TextBox 25"/>
          <p:cNvSpPr txBox="1"/>
          <p:nvPr/>
        </p:nvSpPr>
        <p:spPr>
          <a:xfrm>
            <a:off x="9509760" y="3995927"/>
            <a:ext cx="1097280" cy="301752"/>
          </a:xfrm>
          <a:prstGeom prst="rect">
            <a:avLst/>
          </a:prstGeom>
          <a:noFill/>
        </p:spPr>
        <p:txBody>
          <a:bodyPr wrap="square">
            <a:spAutoFit/>
          </a:bodyPr>
          <a:lstStyle/>
          <a:p>
            <a:pPr algn="l">
              <a:defRPr sz="1400" b="1" i="0">
                <a:solidFill>
                  <a:srgbClr val="EF5350"/>
                </a:solidFill>
                <a:latin typeface="Calibri"/>
              </a:defRPr>
            </a:pPr>
            <a:r>
              <a:t>-0.19</a:t>
            </a:r>
          </a:p>
        </p:txBody>
      </p:sp>
      <p:sp>
        <p:nvSpPr>
          <p:cNvPr id="27" name="TextBox 26"/>
          <p:cNvSpPr txBox="1"/>
          <p:nvPr/>
        </p:nvSpPr>
        <p:spPr>
          <a:xfrm>
            <a:off x="7863840" y="4306823"/>
            <a:ext cx="3657600" cy="274320"/>
          </a:xfrm>
          <a:prstGeom prst="rect">
            <a:avLst/>
          </a:prstGeom>
          <a:noFill/>
        </p:spPr>
        <p:txBody>
          <a:bodyPr wrap="square">
            <a:spAutoFit/>
          </a:bodyPr>
          <a:lstStyle/>
          <a:p>
            <a:pPr algn="l">
              <a:defRPr sz="1200" b="0" i="0">
                <a:solidFill>
                  <a:srgbClr val="909090"/>
                </a:solidFill>
                <a:latin typeface="Calibri"/>
              </a:defRPr>
            </a:pPr>
            <a:r>
              <a:t>Mixed casual</a:t>
            </a:r>
          </a:p>
        </p:txBody>
      </p:sp>
      <p:sp>
        <p:nvSpPr>
          <p:cNvPr id="28" name="Rounded Rectangle 27"/>
          <p:cNvSpPr/>
          <p:nvPr/>
        </p:nvSpPr>
        <p:spPr>
          <a:xfrm>
            <a:off x="7772400" y="4754880"/>
            <a:ext cx="3931920" cy="65836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4773168"/>
            <a:ext cx="822960" cy="301752"/>
          </a:xfrm>
          <a:prstGeom prst="rect">
            <a:avLst/>
          </a:prstGeom>
          <a:noFill/>
        </p:spPr>
        <p:txBody>
          <a:bodyPr wrap="square">
            <a:spAutoFit/>
          </a:bodyPr>
          <a:lstStyle/>
          <a:p>
            <a:pPr algn="l">
              <a:defRPr sz="1400" b="1" i="0">
                <a:solidFill>
                  <a:srgbClr val="2C2C2C"/>
                </a:solidFill>
                <a:latin typeface="Calibri"/>
              </a:defRPr>
            </a:pPr>
            <a:r>
              <a:t>Cl. 4</a:t>
            </a:r>
          </a:p>
        </p:txBody>
      </p:sp>
      <p:sp>
        <p:nvSpPr>
          <p:cNvPr id="30" name="TextBox 29"/>
          <p:cNvSpPr txBox="1"/>
          <p:nvPr/>
        </p:nvSpPr>
        <p:spPr>
          <a:xfrm>
            <a:off x="8686800" y="4773168"/>
            <a:ext cx="731520" cy="301752"/>
          </a:xfrm>
          <a:prstGeom prst="rect">
            <a:avLst/>
          </a:prstGeom>
          <a:noFill/>
        </p:spPr>
        <p:txBody>
          <a:bodyPr wrap="square">
            <a:spAutoFit/>
          </a:bodyPr>
          <a:lstStyle/>
          <a:p>
            <a:pPr algn="l">
              <a:defRPr sz="1400" b="0" i="0">
                <a:solidFill>
                  <a:srgbClr val="909090"/>
                </a:solidFill>
                <a:latin typeface="Calibri"/>
              </a:defRPr>
            </a:pPr>
            <a:r>
              <a:t>$94</a:t>
            </a:r>
          </a:p>
        </p:txBody>
      </p:sp>
      <p:sp>
        <p:nvSpPr>
          <p:cNvPr id="31" name="TextBox 30"/>
          <p:cNvSpPr txBox="1"/>
          <p:nvPr/>
        </p:nvSpPr>
        <p:spPr>
          <a:xfrm>
            <a:off x="9509760" y="4773168"/>
            <a:ext cx="1097280" cy="301752"/>
          </a:xfrm>
          <a:prstGeom prst="rect">
            <a:avLst/>
          </a:prstGeom>
          <a:noFill/>
        </p:spPr>
        <p:txBody>
          <a:bodyPr wrap="square">
            <a:spAutoFit/>
          </a:bodyPr>
          <a:lstStyle/>
          <a:p>
            <a:pPr algn="l">
              <a:defRPr sz="1400" b="1" i="0">
                <a:solidFill>
                  <a:srgbClr val="EF5350"/>
                </a:solidFill>
                <a:latin typeface="Calibri"/>
              </a:defRPr>
            </a:pPr>
            <a:r>
              <a:t>-0.37</a:t>
            </a:r>
          </a:p>
        </p:txBody>
      </p:sp>
      <p:sp>
        <p:nvSpPr>
          <p:cNvPr id="32" name="TextBox 31"/>
          <p:cNvSpPr txBox="1"/>
          <p:nvPr/>
        </p:nvSpPr>
        <p:spPr>
          <a:xfrm>
            <a:off x="7863840" y="5084064"/>
            <a:ext cx="3657600" cy="274320"/>
          </a:xfrm>
          <a:prstGeom prst="rect">
            <a:avLst/>
          </a:prstGeom>
          <a:noFill/>
        </p:spPr>
        <p:txBody>
          <a:bodyPr wrap="square">
            <a:spAutoFit/>
          </a:bodyPr>
          <a:lstStyle/>
          <a:p>
            <a:pPr algn="l">
              <a:defRPr sz="1200" b="0" i="0">
                <a:solidFill>
                  <a:srgbClr val="909090"/>
                </a:solidFill>
                <a:latin typeface="Calibri"/>
              </a:defRPr>
            </a:pPr>
            <a:r>
              <a:t>Premium perf.</a:t>
            </a:r>
          </a:p>
        </p:txBody>
      </p:sp>
      <p:sp>
        <p:nvSpPr>
          <p:cNvPr id="33" name="Rounded Rectangle 32"/>
          <p:cNvSpPr/>
          <p:nvPr/>
        </p:nvSpPr>
        <p:spPr>
          <a:xfrm>
            <a:off x="7772400" y="5577840"/>
            <a:ext cx="3931920" cy="640080"/>
          </a:xfrm>
          <a:prstGeom prst="roundRect">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5623560"/>
            <a:ext cx="3749039" cy="548640"/>
          </a:xfrm>
          <a:prstGeom prst="rect">
            <a:avLst/>
          </a:prstGeom>
          <a:noFill/>
        </p:spPr>
        <p:txBody>
          <a:bodyPr wrap="square">
            <a:spAutoFit/>
          </a:bodyPr>
          <a:lstStyle/>
          <a:p>
            <a:pPr algn="ctr">
              <a:defRPr sz="1400" b="1" i="0">
                <a:solidFill>
                  <a:srgbClr val="FFFFFF"/>
                </a:solidFill>
                <a:latin typeface="Calibri"/>
              </a:defRPr>
            </a:pPr>
            <a:r>
              <a:t>Premium shoes ($87-94) are 3x more</a:t>
            </a:r>
            <a:br/>
            <a:r>
              <a:t>price-elastic than budget shoes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Women's vs Men's: Elasticity Comparison</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Side-by-Side DoubleML Results</a:t>
            </a:r>
          </a:p>
        </p:txBody>
      </p:sp>
      <p:sp>
        <p:nvSpPr>
          <p:cNvPr id="5" name="Rounded Rectangle 4"/>
          <p:cNvSpPr/>
          <p:nvPr/>
        </p:nvSpPr>
        <p:spPr>
          <a:xfrm>
            <a:off x="182880" y="1097280"/>
            <a:ext cx="5852160" cy="45720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15568"/>
            <a:ext cx="5486400" cy="411480"/>
          </a:xfrm>
          <a:prstGeom prst="rect">
            <a:avLst/>
          </a:prstGeom>
          <a:noFill/>
        </p:spPr>
        <p:txBody>
          <a:bodyPr wrap="square">
            <a:spAutoFit/>
          </a:bodyPr>
          <a:lstStyle/>
          <a:p>
            <a:pPr algn="ctr">
              <a:defRPr sz="1800" b="1" i="0">
                <a:solidFill>
                  <a:srgbClr val="EF5350"/>
                </a:solidFill>
                <a:latin typeface="Calibri"/>
              </a:defRPr>
            </a:pPr>
            <a:r>
              <a:t>Women's Shoes (5,147 ASINs)</a:t>
            </a:r>
          </a:p>
        </p:txBody>
      </p:sp>
      <p:pic>
        <p:nvPicPr>
          <p:cNvPr id="7" name="Picture 6" descr="forest_plot_dml_elasticity.png"/>
          <p:cNvPicPr>
            <a:picLocks noChangeAspect="1"/>
          </p:cNvPicPr>
          <p:nvPr/>
        </p:nvPicPr>
        <p:blipFill>
          <a:blip r:embed="rId2"/>
          <a:stretch>
            <a:fillRect/>
          </a:stretch>
        </p:blipFill>
        <p:spPr>
          <a:xfrm>
            <a:off x="91440" y="1645920"/>
            <a:ext cx="5943600" cy="2971800"/>
          </a:xfrm>
          <a:prstGeom prst="rect">
            <a:avLst/>
          </a:prstGeom>
        </p:spPr>
      </p:pic>
      <p:sp>
        <p:nvSpPr>
          <p:cNvPr id="8" name="Rounded Rectangle 7"/>
          <p:cNvSpPr/>
          <p:nvPr/>
        </p:nvSpPr>
        <p:spPr>
          <a:xfrm>
            <a:off x="6126480" y="1097280"/>
            <a:ext cx="5852160" cy="4572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15568"/>
            <a:ext cx="5486400" cy="411480"/>
          </a:xfrm>
          <a:prstGeom prst="rect">
            <a:avLst/>
          </a:prstGeom>
          <a:noFill/>
        </p:spPr>
        <p:txBody>
          <a:bodyPr wrap="square">
            <a:spAutoFit/>
          </a:bodyPr>
          <a:lstStyle/>
          <a:p>
            <a:pPr algn="ctr">
              <a:defRPr sz="1800" b="1" i="0">
                <a:solidFill>
                  <a:srgbClr val="42A5F5"/>
                </a:solidFill>
                <a:latin typeface="Calibri"/>
              </a:defRPr>
            </a:pPr>
            <a:r>
              <a:t>Men's Shoes (2,061 ASINs)</a:t>
            </a:r>
          </a:p>
        </p:txBody>
      </p:sp>
      <p:pic>
        <p:nvPicPr>
          <p:cNvPr id="10" name="Picture 9" descr="forest_plot_dml_elasticity.png"/>
          <p:cNvPicPr>
            <a:picLocks noChangeAspect="1"/>
          </p:cNvPicPr>
          <p:nvPr/>
        </p:nvPicPr>
        <p:blipFill>
          <a:blip r:embed="rId3"/>
          <a:stretch>
            <a:fillRect/>
          </a:stretch>
        </p:blipFill>
        <p:spPr>
          <a:xfrm>
            <a:off x="6035040" y="1645920"/>
            <a:ext cx="5943600" cy="2971800"/>
          </a:xfrm>
          <a:prstGeom prst="rect">
            <a:avLst/>
          </a:prstGeom>
        </p:spPr>
      </p:pic>
      <p:sp>
        <p:nvSpPr>
          <p:cNvPr id="11" name="Rounded Rectangle 10"/>
          <p:cNvSpPr/>
          <p:nvPr/>
        </p:nvSpPr>
        <p:spPr>
          <a:xfrm>
            <a:off x="274320" y="5303520"/>
            <a:ext cx="11612880" cy="12801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5349240"/>
            <a:ext cx="11247120" cy="320040"/>
          </a:xfrm>
          <a:prstGeom prst="rect">
            <a:avLst/>
          </a:prstGeom>
          <a:noFill/>
        </p:spPr>
        <p:txBody>
          <a:bodyPr wrap="square">
            <a:spAutoFit/>
          </a:bodyPr>
          <a:lstStyle/>
          <a:p>
            <a:pPr algn="l">
              <a:defRPr sz="1800" b="1" i="0">
                <a:solidFill>
                  <a:srgbClr val="7E57C2"/>
                </a:solidFill>
                <a:latin typeface="Calibri"/>
              </a:defRPr>
            </a:pPr>
            <a:r>
              <a:t>Key Observations</a:t>
            </a:r>
          </a:p>
        </p:txBody>
      </p:sp>
      <p:sp>
        <p:nvSpPr>
          <p:cNvPr id="13" name="TextBox 12"/>
          <p:cNvSpPr txBox="1"/>
          <p:nvPr/>
        </p:nvSpPr>
        <p:spPr>
          <a:xfrm>
            <a:off x="457200" y="5715000"/>
            <a:ext cx="11247120" cy="731520"/>
          </a:xfrm>
          <a:prstGeom prst="rect">
            <a:avLst/>
          </a:prstGeom>
          <a:noFill/>
        </p:spPr>
        <p:txBody>
          <a:bodyPr wrap="square">
            <a:spAutoFit/>
          </a:bodyPr>
          <a:lstStyle/>
          <a:p>
            <a:pPr>
              <a:spcAft>
                <a:spcPts val="1000"/>
              </a:spcAft>
              <a:defRPr sz="1400">
                <a:solidFill>
                  <a:srgbClr val="2C2C2C"/>
                </a:solidFill>
                <a:latin typeface="Calibri"/>
              </a:defRPr>
            </a:pPr>
            <a:r>
              <a:t>Both segments show significant negative price elasticity, confirming the approach works across genders</a:t>
            </a:r>
          </a:p>
          <a:p>
            <a:pPr>
              <a:spcAft>
                <a:spcPts val="1000"/>
              </a:spcAft>
              <a:defRPr sz="1400">
                <a:solidFill>
                  <a:srgbClr val="2C2C2C"/>
                </a:solidFill>
                <a:latin typeface="Calibri"/>
              </a:defRPr>
            </a:pPr>
            <a:r>
              <a:t>Identical methodology, only the data differs, making this a clean apples-to-apples comparison</a:t>
            </a:r>
          </a:p>
          <a:p>
            <a:pPr>
              <a:spcAft>
                <a:spcPts val="1000"/>
              </a:spcAft>
              <a:defRPr sz="1400">
                <a:solidFill>
                  <a:srgbClr val="2C2C2C"/>
                </a:solidFill>
                <a:latin typeface="Calibri"/>
              </a:defRPr>
            </a:pPr>
            <a:r>
              <a:t>Different category structures (Pumps/Heels vs Oxfords/Loafers) lead to different cluster dynamics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CATE Distributions: Women vs Men</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Heterogeneous Treatment Effects Across Gender Segments</a:t>
            </a:r>
          </a:p>
        </p:txBody>
      </p:sp>
      <p:sp>
        <p:nvSpPr>
          <p:cNvPr id="5" name="Rounded Rectangle 4"/>
          <p:cNvSpPr/>
          <p:nvPr/>
        </p:nvSpPr>
        <p:spPr>
          <a:xfrm>
            <a:off x="182880" y="1097280"/>
            <a:ext cx="5852160" cy="4114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15568"/>
            <a:ext cx="5486400" cy="365760"/>
          </a:xfrm>
          <a:prstGeom prst="rect">
            <a:avLst/>
          </a:prstGeom>
          <a:noFill/>
        </p:spPr>
        <p:txBody>
          <a:bodyPr wrap="square">
            <a:spAutoFit/>
          </a:bodyPr>
          <a:lstStyle/>
          <a:p>
            <a:pPr algn="ctr">
              <a:defRPr sz="1700" b="1" i="0">
                <a:solidFill>
                  <a:srgbClr val="EF5350"/>
                </a:solidFill>
                <a:latin typeface="Calibri"/>
              </a:defRPr>
            </a:pPr>
            <a:r>
              <a:t>Women's CATE Distribution</a:t>
            </a:r>
          </a:p>
        </p:txBody>
      </p:sp>
      <p:pic>
        <p:nvPicPr>
          <p:cNvPr id="7" name="Picture 6" descr="cate_distribution.png"/>
          <p:cNvPicPr>
            <a:picLocks noChangeAspect="1"/>
          </p:cNvPicPr>
          <p:nvPr/>
        </p:nvPicPr>
        <p:blipFill>
          <a:blip r:embed="rId2"/>
          <a:stretch>
            <a:fillRect/>
          </a:stretch>
        </p:blipFill>
        <p:spPr>
          <a:xfrm>
            <a:off x="91440" y="1554480"/>
            <a:ext cx="5943600" cy="2200700"/>
          </a:xfrm>
          <a:prstGeom prst="rect">
            <a:avLst/>
          </a:prstGeom>
        </p:spPr>
      </p:pic>
      <p:sp>
        <p:nvSpPr>
          <p:cNvPr id="8" name="Rounded Rectangle 7"/>
          <p:cNvSpPr/>
          <p:nvPr/>
        </p:nvSpPr>
        <p:spPr>
          <a:xfrm>
            <a:off x="6126480" y="1097280"/>
            <a:ext cx="5852160" cy="41148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15568"/>
            <a:ext cx="5486400" cy="365760"/>
          </a:xfrm>
          <a:prstGeom prst="rect">
            <a:avLst/>
          </a:prstGeom>
          <a:noFill/>
        </p:spPr>
        <p:txBody>
          <a:bodyPr wrap="square">
            <a:spAutoFit/>
          </a:bodyPr>
          <a:lstStyle/>
          <a:p>
            <a:pPr algn="ctr">
              <a:defRPr sz="1700" b="1" i="0">
                <a:solidFill>
                  <a:srgbClr val="42A5F5"/>
                </a:solidFill>
                <a:latin typeface="Calibri"/>
              </a:defRPr>
            </a:pPr>
            <a:r>
              <a:t>Men's CATE Distribution</a:t>
            </a:r>
          </a:p>
        </p:txBody>
      </p:sp>
      <p:pic>
        <p:nvPicPr>
          <p:cNvPr id="10" name="Picture 9" descr="cate_distribution.png"/>
          <p:cNvPicPr>
            <a:picLocks noChangeAspect="1"/>
          </p:cNvPicPr>
          <p:nvPr/>
        </p:nvPicPr>
        <p:blipFill>
          <a:blip r:embed="rId3"/>
          <a:stretch>
            <a:fillRect/>
          </a:stretch>
        </p:blipFill>
        <p:spPr>
          <a:xfrm>
            <a:off x="6035040" y="1554480"/>
            <a:ext cx="5943600" cy="2200700"/>
          </a:xfrm>
          <a:prstGeom prst="rect">
            <a:avLst/>
          </a:prstGeom>
        </p:spPr>
      </p:pic>
      <p:sp>
        <p:nvSpPr>
          <p:cNvPr id="11" name="Rounded Rectangle 10"/>
          <p:cNvSpPr/>
          <p:nvPr/>
        </p:nvSpPr>
        <p:spPr>
          <a:xfrm>
            <a:off x="182880" y="4114800"/>
            <a:ext cx="5852160" cy="4114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4133087"/>
            <a:ext cx="5486400" cy="365760"/>
          </a:xfrm>
          <a:prstGeom prst="rect">
            <a:avLst/>
          </a:prstGeom>
          <a:noFill/>
        </p:spPr>
        <p:txBody>
          <a:bodyPr wrap="square">
            <a:spAutoFit/>
          </a:bodyPr>
          <a:lstStyle/>
          <a:p>
            <a:pPr algn="ctr">
              <a:defRPr sz="1500" b="1" i="0">
                <a:solidFill>
                  <a:srgbClr val="EF5350"/>
                </a:solidFill>
                <a:latin typeface="Calibri"/>
              </a:defRPr>
            </a:pPr>
            <a:r>
              <a:t>Women's Cluster Sorted Effects</a:t>
            </a:r>
          </a:p>
        </p:txBody>
      </p:sp>
      <p:pic>
        <p:nvPicPr>
          <p:cNvPr id="13" name="Picture 12" descr="cluster_sorted_effects.png"/>
          <p:cNvPicPr>
            <a:picLocks noChangeAspect="1"/>
          </p:cNvPicPr>
          <p:nvPr/>
        </p:nvPicPr>
        <p:blipFill>
          <a:blip r:embed="rId4"/>
          <a:stretch>
            <a:fillRect/>
          </a:stretch>
        </p:blipFill>
        <p:spPr>
          <a:xfrm>
            <a:off x="91440" y="4572000"/>
            <a:ext cx="5943600" cy="3139261"/>
          </a:xfrm>
          <a:prstGeom prst="rect">
            <a:avLst/>
          </a:prstGeom>
        </p:spPr>
      </p:pic>
      <p:sp>
        <p:nvSpPr>
          <p:cNvPr id="14" name="Rounded Rectangle 13"/>
          <p:cNvSpPr/>
          <p:nvPr/>
        </p:nvSpPr>
        <p:spPr>
          <a:xfrm>
            <a:off x="6126480" y="4114800"/>
            <a:ext cx="5852160" cy="41148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133087"/>
            <a:ext cx="5486400" cy="365760"/>
          </a:xfrm>
          <a:prstGeom prst="rect">
            <a:avLst/>
          </a:prstGeom>
          <a:noFill/>
        </p:spPr>
        <p:txBody>
          <a:bodyPr wrap="square">
            <a:spAutoFit/>
          </a:bodyPr>
          <a:lstStyle/>
          <a:p>
            <a:pPr algn="ctr">
              <a:defRPr sz="1500" b="1" i="0">
                <a:solidFill>
                  <a:srgbClr val="42A5F5"/>
                </a:solidFill>
                <a:latin typeface="Calibri"/>
              </a:defRPr>
            </a:pPr>
            <a:r>
              <a:t>Men's Cluster Sorted Effects</a:t>
            </a:r>
          </a:p>
        </p:txBody>
      </p:sp>
      <p:pic>
        <p:nvPicPr>
          <p:cNvPr id="16" name="Picture 15" descr="cluster_sorted_effects.png"/>
          <p:cNvPicPr>
            <a:picLocks noChangeAspect="1"/>
          </p:cNvPicPr>
          <p:nvPr/>
        </p:nvPicPr>
        <p:blipFill>
          <a:blip r:embed="rId5"/>
          <a:stretch>
            <a:fillRect/>
          </a:stretch>
        </p:blipFill>
        <p:spPr>
          <a:xfrm>
            <a:off x="6035040" y="4572000"/>
            <a:ext cx="5943600" cy="313926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Next Steps &amp; Future Directions</a:t>
            </a:r>
          </a:p>
        </p:txBody>
      </p:sp>
      <p:sp>
        <p:nvSpPr>
          <p:cNvPr id="4" name="Rounded Rectangle 3"/>
          <p:cNvSpPr/>
          <p:nvPr/>
        </p:nvSpPr>
        <p:spPr>
          <a:xfrm>
            <a:off x="365760" y="1188720"/>
            <a:ext cx="11430000" cy="749808"/>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4572000" cy="320040"/>
          </a:xfrm>
          <a:prstGeom prst="rect">
            <a:avLst/>
          </a:prstGeom>
          <a:noFill/>
        </p:spPr>
        <p:txBody>
          <a:bodyPr wrap="square">
            <a:spAutoFit/>
          </a:bodyPr>
          <a:lstStyle/>
          <a:p>
            <a:pPr algn="l">
              <a:defRPr sz="1800" b="1" i="0">
                <a:solidFill>
                  <a:srgbClr val="F4843D"/>
                </a:solidFill>
                <a:latin typeface="Calibri"/>
              </a:defRPr>
            </a:pPr>
            <a:r>
              <a:t>Expand to More Sizes</a:t>
            </a:r>
          </a:p>
        </p:txBody>
      </p:sp>
      <p:sp>
        <p:nvSpPr>
          <p:cNvPr id="6" name="TextBox 5"/>
          <p:cNvSpPr txBox="1"/>
          <p:nvPr/>
        </p:nvSpPr>
        <p:spPr>
          <a:xfrm>
            <a:off x="640080" y="1572768"/>
            <a:ext cx="10972800" cy="320040"/>
          </a:xfrm>
          <a:prstGeom prst="rect">
            <a:avLst/>
          </a:prstGeom>
          <a:noFill/>
        </p:spPr>
        <p:txBody>
          <a:bodyPr wrap="square">
            <a:spAutoFit/>
          </a:bodyPr>
          <a:lstStyle/>
          <a:p>
            <a:pPr algn="l">
              <a:defRPr sz="1400" b="0" i="0">
                <a:solidFill>
                  <a:srgbClr val="2C2C2C"/>
                </a:solidFill>
                <a:latin typeface="Calibri"/>
              </a:defRPr>
            </a:pPr>
            <a:r>
              <a:t>Apply pipeline to sizes 7, 9, 10 to test if elasticity patterns hold</a:t>
            </a:r>
          </a:p>
        </p:txBody>
      </p:sp>
      <p:sp>
        <p:nvSpPr>
          <p:cNvPr id="7" name="Rounded Rectangle 6"/>
          <p:cNvSpPr/>
          <p:nvPr/>
        </p:nvSpPr>
        <p:spPr>
          <a:xfrm>
            <a:off x="365760" y="2057400"/>
            <a:ext cx="11430000" cy="749808"/>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03120"/>
            <a:ext cx="4572000" cy="320040"/>
          </a:xfrm>
          <a:prstGeom prst="rect">
            <a:avLst/>
          </a:prstGeom>
          <a:noFill/>
        </p:spPr>
        <p:txBody>
          <a:bodyPr wrap="square">
            <a:spAutoFit/>
          </a:bodyPr>
          <a:lstStyle/>
          <a:p>
            <a:pPr algn="l">
              <a:defRPr sz="1800" b="1" i="0">
                <a:solidFill>
                  <a:srgbClr val="26A69A"/>
                </a:solidFill>
                <a:latin typeface="Calibri"/>
              </a:defRPr>
            </a:pPr>
            <a:r>
              <a:t>Cross-Gender Statistical Tests</a:t>
            </a:r>
          </a:p>
        </p:txBody>
      </p:sp>
      <p:sp>
        <p:nvSpPr>
          <p:cNvPr id="9" name="TextBox 8"/>
          <p:cNvSpPr txBox="1"/>
          <p:nvPr/>
        </p:nvSpPr>
        <p:spPr>
          <a:xfrm>
            <a:off x="640080" y="2441448"/>
            <a:ext cx="10972800" cy="320040"/>
          </a:xfrm>
          <a:prstGeom prst="rect">
            <a:avLst/>
          </a:prstGeom>
          <a:noFill/>
        </p:spPr>
        <p:txBody>
          <a:bodyPr wrap="square">
            <a:spAutoFit/>
          </a:bodyPr>
          <a:lstStyle/>
          <a:p>
            <a:pPr algn="l">
              <a:defRPr sz="1400" b="0" i="0">
                <a:solidFill>
                  <a:srgbClr val="2C2C2C"/>
                </a:solidFill>
                <a:latin typeface="Calibri"/>
              </a:defRPr>
            </a:pPr>
            <a:r>
              <a:t>Formally test whether Women vs Men elasticities are significantly different</a:t>
            </a:r>
          </a:p>
        </p:txBody>
      </p:sp>
      <p:sp>
        <p:nvSpPr>
          <p:cNvPr id="10" name="Rounded Rectangle 9"/>
          <p:cNvSpPr/>
          <p:nvPr/>
        </p:nvSpPr>
        <p:spPr>
          <a:xfrm>
            <a:off x="365760" y="2926080"/>
            <a:ext cx="11430000" cy="749808"/>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971800"/>
            <a:ext cx="4572000" cy="320040"/>
          </a:xfrm>
          <a:prstGeom prst="rect">
            <a:avLst/>
          </a:prstGeom>
          <a:noFill/>
        </p:spPr>
        <p:txBody>
          <a:bodyPr wrap="square">
            <a:spAutoFit/>
          </a:bodyPr>
          <a:lstStyle/>
          <a:p>
            <a:pPr algn="l">
              <a:defRPr sz="1800" b="1" i="0">
                <a:solidFill>
                  <a:srgbClr val="7E57C2"/>
                </a:solidFill>
                <a:latin typeface="Calibri"/>
              </a:defRPr>
            </a:pPr>
            <a:r>
              <a:t>Temporal Dynamics</a:t>
            </a:r>
          </a:p>
        </p:txBody>
      </p:sp>
      <p:sp>
        <p:nvSpPr>
          <p:cNvPr id="12" name="TextBox 11"/>
          <p:cNvSpPr txBox="1"/>
          <p:nvPr/>
        </p:nvSpPr>
        <p:spPr>
          <a:xfrm>
            <a:off x="640080" y="3310128"/>
            <a:ext cx="10972800" cy="320040"/>
          </a:xfrm>
          <a:prstGeom prst="rect">
            <a:avLst/>
          </a:prstGeom>
          <a:noFill/>
        </p:spPr>
        <p:txBody>
          <a:bodyPr wrap="square">
            <a:spAutoFit/>
          </a:bodyPr>
          <a:lstStyle/>
          <a:p>
            <a:pPr algn="l">
              <a:defRPr sz="1400" b="0" i="0">
                <a:solidFill>
                  <a:srgbClr val="2C2C2C"/>
                </a:solidFill>
                <a:latin typeface="Calibri"/>
              </a:defRPr>
            </a:pPr>
            <a:r>
              <a:t>Analyze seasonal effects: holiday pricing, back-to-school, Prime Day impacts</a:t>
            </a:r>
          </a:p>
        </p:txBody>
      </p:sp>
      <p:sp>
        <p:nvSpPr>
          <p:cNvPr id="13" name="Rounded Rectangle 12"/>
          <p:cNvSpPr/>
          <p:nvPr/>
        </p:nvSpPr>
        <p:spPr>
          <a:xfrm>
            <a:off x="365760" y="3794759"/>
            <a:ext cx="11430000" cy="7498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840479"/>
            <a:ext cx="4572000" cy="320040"/>
          </a:xfrm>
          <a:prstGeom prst="rect">
            <a:avLst/>
          </a:prstGeom>
          <a:noFill/>
        </p:spPr>
        <p:txBody>
          <a:bodyPr wrap="square">
            <a:spAutoFit/>
          </a:bodyPr>
          <a:lstStyle/>
          <a:p>
            <a:pPr algn="l">
              <a:defRPr sz="1800" b="1" i="0">
                <a:solidFill>
                  <a:srgbClr val="42A5F5"/>
                </a:solidFill>
                <a:latin typeface="Calibri"/>
              </a:defRPr>
            </a:pPr>
            <a:r>
              <a:t>Category-Level DoubleML</a:t>
            </a:r>
          </a:p>
        </p:txBody>
      </p:sp>
      <p:sp>
        <p:nvSpPr>
          <p:cNvPr id="15" name="TextBox 14"/>
          <p:cNvSpPr txBox="1"/>
          <p:nvPr/>
        </p:nvSpPr>
        <p:spPr>
          <a:xfrm>
            <a:off x="640080" y="4178807"/>
            <a:ext cx="10972800" cy="320040"/>
          </a:xfrm>
          <a:prstGeom prst="rect">
            <a:avLst/>
          </a:prstGeom>
          <a:noFill/>
        </p:spPr>
        <p:txBody>
          <a:bodyPr wrap="square">
            <a:spAutoFit/>
          </a:bodyPr>
          <a:lstStyle/>
          <a:p>
            <a:pPr algn="l">
              <a:defRPr sz="1400" b="0" i="0">
                <a:solidFill>
                  <a:srgbClr val="2C2C2C"/>
                </a:solidFill>
                <a:latin typeface="Calibri"/>
              </a:defRPr>
            </a:pPr>
            <a:r>
              <a:t>Separate models per subcategory for finer-grained pricing insights</a:t>
            </a:r>
          </a:p>
        </p:txBody>
      </p:sp>
      <p:sp>
        <p:nvSpPr>
          <p:cNvPr id="16" name="Rounded Rectangle 15"/>
          <p:cNvSpPr/>
          <p:nvPr/>
        </p:nvSpPr>
        <p:spPr>
          <a:xfrm>
            <a:off x="365760" y="4663440"/>
            <a:ext cx="11430000" cy="74980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709160"/>
            <a:ext cx="4572000" cy="320040"/>
          </a:xfrm>
          <a:prstGeom prst="rect">
            <a:avLst/>
          </a:prstGeom>
          <a:noFill/>
        </p:spPr>
        <p:txBody>
          <a:bodyPr wrap="square">
            <a:spAutoFit/>
          </a:bodyPr>
          <a:lstStyle/>
          <a:p>
            <a:pPr algn="l">
              <a:defRPr sz="1800" b="1" i="0">
                <a:solidFill>
                  <a:srgbClr val="EF5350"/>
                </a:solidFill>
                <a:latin typeface="Calibri"/>
              </a:defRPr>
            </a:pPr>
            <a:r>
              <a:t>Dynamic Pricing Application</a:t>
            </a:r>
          </a:p>
        </p:txBody>
      </p:sp>
      <p:sp>
        <p:nvSpPr>
          <p:cNvPr id="18" name="TextBox 17"/>
          <p:cNvSpPr txBox="1"/>
          <p:nvPr/>
        </p:nvSpPr>
        <p:spPr>
          <a:xfrm>
            <a:off x="640080" y="5047488"/>
            <a:ext cx="10972800" cy="320040"/>
          </a:xfrm>
          <a:prstGeom prst="rect">
            <a:avLst/>
          </a:prstGeom>
          <a:noFill/>
        </p:spPr>
        <p:txBody>
          <a:bodyPr wrap="square">
            <a:spAutoFit/>
          </a:bodyPr>
          <a:lstStyle/>
          <a:p>
            <a:pPr algn="l">
              <a:defRPr sz="1400" b="0" i="0">
                <a:solidFill>
                  <a:srgbClr val="2C2C2C"/>
                </a:solidFill>
                <a:latin typeface="Calibri"/>
              </a:defRPr>
            </a:pPr>
            <a:r>
              <a:t>Build a recommendation system using estimated elasticities for real-time pricing</a:t>
            </a:r>
          </a:p>
        </p:txBody>
      </p:sp>
      <p:sp>
        <p:nvSpPr>
          <p:cNvPr id="19" name="Rounded Rectangle 18"/>
          <p:cNvSpPr/>
          <p:nvPr/>
        </p:nvSpPr>
        <p:spPr>
          <a:xfrm>
            <a:off x="365760" y="5532120"/>
            <a:ext cx="11430000" cy="749808"/>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77840"/>
            <a:ext cx="4572000" cy="320040"/>
          </a:xfrm>
          <a:prstGeom prst="rect">
            <a:avLst/>
          </a:prstGeom>
          <a:noFill/>
        </p:spPr>
        <p:txBody>
          <a:bodyPr wrap="square">
            <a:spAutoFit/>
          </a:bodyPr>
          <a:lstStyle/>
          <a:p>
            <a:pPr algn="l">
              <a:defRPr sz="1800" b="1" i="0">
                <a:solidFill>
                  <a:srgbClr val="F4843D"/>
                </a:solidFill>
                <a:latin typeface="Calibri"/>
              </a:defRPr>
            </a:pPr>
            <a:r>
              <a:t>Additional Data Sources</a:t>
            </a:r>
          </a:p>
        </p:txBody>
      </p:sp>
      <p:sp>
        <p:nvSpPr>
          <p:cNvPr id="21" name="TextBox 20"/>
          <p:cNvSpPr txBox="1"/>
          <p:nvPr/>
        </p:nvSpPr>
        <p:spPr>
          <a:xfrm>
            <a:off x="640080" y="5916168"/>
            <a:ext cx="10972800" cy="320040"/>
          </a:xfrm>
          <a:prstGeom prst="rect">
            <a:avLst/>
          </a:prstGeom>
          <a:noFill/>
        </p:spPr>
        <p:txBody>
          <a:bodyPr wrap="square">
            <a:spAutoFit/>
          </a:bodyPr>
          <a:lstStyle/>
          <a:p>
            <a:pPr algn="l">
              <a:defRPr sz="1400" b="0" i="0">
                <a:solidFill>
                  <a:srgbClr val="2C2C2C"/>
                </a:solidFill>
                <a:latin typeface="Calibri"/>
              </a:defRPr>
            </a:pPr>
            <a:r>
              <a:t>Incorporate customer review text, Q&amp;A data, and competitor pricing signals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BF7"/>
        </a:solidFill>
        <a:effectLst/>
      </p:bgPr>
    </p:bg>
    <p:spTree>
      <p:nvGrpSpPr>
        <p:cNvPr id="1" name=""/>
        <p:cNvGrpSpPr/>
        <p:nvPr/>
      </p:nvGrpSpPr>
      <p:grpSpPr/>
      <p:sp>
        <p:nvSpPr>
          <p:cNvPr id="2" name="Rectangle 1"/>
          <p:cNvSpPr/>
          <p:nvPr/>
        </p:nvSpPr>
        <p:spPr>
          <a:xfrm>
            <a:off x="0" y="0"/>
            <a:ext cx="12191695" cy="3200400"/>
          </a:xfrm>
          <a:prstGeom prst="rect">
            <a:avLst/>
          </a:prstGeom>
          <a:solidFill>
            <a:srgbClr val="F4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914400"/>
          </a:xfrm>
          <a:prstGeom prst="rect">
            <a:avLst/>
          </a:prstGeom>
          <a:noFill/>
        </p:spPr>
        <p:txBody>
          <a:bodyPr wrap="square">
            <a:spAutoFit/>
          </a:bodyPr>
          <a:lstStyle/>
          <a:p>
            <a:pPr algn="ctr">
              <a:defRPr sz="5200" b="1" i="0">
                <a:solidFill>
                  <a:srgbClr val="FFFFFF"/>
                </a:solidFill>
                <a:latin typeface="Calibri"/>
              </a:defRPr>
            </a:pPr>
            <a:r>
              <a:t>Thank You!</a:t>
            </a:r>
          </a:p>
        </p:txBody>
      </p:sp>
      <p:sp>
        <p:nvSpPr>
          <p:cNvPr id="4" name="TextBox 3"/>
          <p:cNvSpPr txBox="1"/>
          <p:nvPr/>
        </p:nvSpPr>
        <p:spPr>
          <a:xfrm>
            <a:off x="914400" y="2011680"/>
            <a:ext cx="10058400" cy="457200"/>
          </a:xfrm>
          <a:prstGeom prst="rect">
            <a:avLst/>
          </a:prstGeom>
          <a:noFill/>
        </p:spPr>
        <p:txBody>
          <a:bodyPr wrap="square">
            <a:spAutoFit/>
          </a:bodyPr>
          <a:lstStyle/>
          <a:p>
            <a:pPr algn="ctr">
              <a:defRPr sz="2400" b="0" i="0">
                <a:solidFill>
                  <a:srgbClr val="FFE0C0"/>
                </a:solidFill>
                <a:latin typeface="Calibri"/>
              </a:defRPr>
            </a:pPr>
            <a:r>
              <a:t>Questions &amp; Discussion</a:t>
            </a:r>
          </a:p>
        </p:txBody>
      </p:sp>
      <p:sp>
        <p:nvSpPr>
          <p:cNvPr id="5" name="TextBox 4"/>
          <p:cNvSpPr txBox="1"/>
          <p:nvPr/>
        </p:nvSpPr>
        <p:spPr>
          <a:xfrm>
            <a:off x="914400" y="3840480"/>
            <a:ext cx="10058400" cy="457200"/>
          </a:xfrm>
          <a:prstGeom prst="rect">
            <a:avLst/>
          </a:prstGeom>
          <a:noFill/>
        </p:spPr>
        <p:txBody>
          <a:bodyPr wrap="square">
            <a:spAutoFit/>
          </a:bodyPr>
          <a:lstStyle/>
          <a:p>
            <a:pPr algn="ctr">
              <a:defRPr sz="2200" b="1" i="0">
                <a:solidFill>
                  <a:srgbClr val="2C2C2C"/>
                </a:solidFill>
                <a:latin typeface="Calibri"/>
              </a:defRPr>
            </a:pPr>
            <a:r>
              <a:t>Billy  |  Ian  |  Yuhui  |  Jyoti</a:t>
            </a:r>
          </a:p>
        </p:txBody>
      </p:sp>
      <p:sp>
        <p:nvSpPr>
          <p:cNvPr id="6" name="TextBox 5"/>
          <p:cNvSpPr txBox="1"/>
          <p:nvPr/>
        </p:nvSpPr>
        <p:spPr>
          <a:xfrm>
            <a:off x="914400" y="4297680"/>
            <a:ext cx="10058400" cy="365760"/>
          </a:xfrm>
          <a:prstGeom prst="rect">
            <a:avLst/>
          </a:prstGeom>
          <a:noFill/>
        </p:spPr>
        <p:txBody>
          <a:bodyPr wrap="square">
            <a:spAutoFit/>
          </a:bodyPr>
          <a:lstStyle/>
          <a:p>
            <a:pPr algn="ctr">
              <a:defRPr sz="1800" b="0" i="0">
                <a:solidFill>
                  <a:srgbClr val="909090"/>
                </a:solidFill>
                <a:latin typeface="Calibri"/>
              </a:defRPr>
            </a:pPr>
            <a:r>
              <a:t>Advisor: Guy</a:t>
            </a:r>
          </a:p>
        </p:txBody>
      </p:sp>
      <p:sp>
        <p:nvSpPr>
          <p:cNvPr id="7" name="TextBox 6"/>
          <p:cNvSpPr txBox="1"/>
          <p:nvPr/>
        </p:nvSpPr>
        <p:spPr>
          <a:xfrm>
            <a:off x="914400" y="5029200"/>
            <a:ext cx="10058400" cy="365760"/>
          </a:xfrm>
          <a:prstGeom prst="rect">
            <a:avLst/>
          </a:prstGeom>
          <a:noFill/>
        </p:spPr>
        <p:txBody>
          <a:bodyPr wrap="square">
            <a:spAutoFit/>
          </a:bodyPr>
          <a:lstStyle/>
          <a:p>
            <a:pPr algn="ctr">
              <a:defRPr sz="1500" b="0" i="1">
                <a:solidFill>
                  <a:srgbClr val="909090"/>
                </a:solidFill>
                <a:latin typeface="Calibri"/>
              </a:defRPr>
            </a:pPr>
            <a:r>
              <a:t>Victor et al. (2025) "Adventures in Demand Analysis Using AI"</a:t>
            </a:r>
          </a:p>
        </p:txBody>
      </p:sp>
      <p:sp>
        <p:nvSpPr>
          <p:cNvPr id="8" name="TextBox 7"/>
          <p:cNvSpPr txBox="1"/>
          <p:nvPr/>
        </p:nvSpPr>
        <p:spPr>
          <a:xfrm>
            <a:off x="914400" y="5486400"/>
            <a:ext cx="10058400" cy="274320"/>
          </a:xfrm>
          <a:prstGeom prst="rect">
            <a:avLst/>
          </a:prstGeom>
          <a:noFill/>
        </p:spPr>
        <p:txBody>
          <a:bodyPr wrap="square">
            <a:spAutoFit/>
          </a:bodyPr>
          <a:lstStyle/>
          <a:p>
            <a:pPr algn="ctr">
              <a:defRPr sz="1400" b="0" i="0">
                <a:solidFill>
                  <a:srgbClr val="909090"/>
                </a:solidFill>
                <a:latin typeface="Calibri"/>
              </a:defRPr>
            </a:pPr>
            <a:r>
              <a:t>Northeastern University  |  April 2026</a:t>
            </a:r>
          </a:p>
        </p:txBody>
      </p:sp>
      <p:pic>
        <p:nvPicPr>
          <p:cNvPr id="9" name="Picture 8" descr="shoe_0.jpg"/>
          <p:cNvPicPr>
            <a:picLocks noChangeAspect="1"/>
          </p:cNvPicPr>
          <p:nvPr/>
        </p:nvPicPr>
        <p:blipFill>
          <a:blip r:embed="rId2"/>
          <a:stretch>
            <a:fillRect/>
          </a:stretch>
        </p:blipFill>
        <p:spPr>
          <a:xfrm>
            <a:off x="274320" y="5760720"/>
            <a:ext cx="914400" cy="914400"/>
          </a:xfrm>
          <a:prstGeom prst="rect">
            <a:avLst/>
          </a:prstGeom>
        </p:spPr>
      </p:pic>
      <p:pic>
        <p:nvPicPr>
          <p:cNvPr id="10" name="Picture 9" descr="shoe_1.jpg"/>
          <p:cNvPicPr>
            <a:picLocks noChangeAspect="1"/>
          </p:cNvPicPr>
          <p:nvPr/>
        </p:nvPicPr>
        <p:blipFill>
          <a:blip r:embed="rId3"/>
          <a:stretch>
            <a:fillRect/>
          </a:stretch>
        </p:blipFill>
        <p:spPr>
          <a:xfrm>
            <a:off x="2240279" y="5760720"/>
            <a:ext cx="914400" cy="914400"/>
          </a:xfrm>
          <a:prstGeom prst="rect">
            <a:avLst/>
          </a:prstGeom>
        </p:spPr>
      </p:pic>
      <p:pic>
        <p:nvPicPr>
          <p:cNvPr id="11" name="Picture 10" descr="shoe_2.jpg"/>
          <p:cNvPicPr>
            <a:picLocks noChangeAspect="1"/>
          </p:cNvPicPr>
          <p:nvPr/>
        </p:nvPicPr>
        <p:blipFill>
          <a:blip r:embed="rId4"/>
          <a:stretch>
            <a:fillRect/>
          </a:stretch>
        </p:blipFill>
        <p:spPr>
          <a:xfrm>
            <a:off x="4206240" y="5760720"/>
            <a:ext cx="914400" cy="914400"/>
          </a:xfrm>
          <a:prstGeom prst="rect">
            <a:avLst/>
          </a:prstGeom>
        </p:spPr>
      </p:pic>
      <p:pic>
        <p:nvPicPr>
          <p:cNvPr id="12" name="Picture 11" descr="shoe_3.jpg"/>
          <p:cNvPicPr>
            <a:picLocks noChangeAspect="1"/>
          </p:cNvPicPr>
          <p:nvPr/>
        </p:nvPicPr>
        <p:blipFill>
          <a:blip r:embed="rId5"/>
          <a:stretch>
            <a:fillRect/>
          </a:stretch>
        </p:blipFill>
        <p:spPr>
          <a:xfrm>
            <a:off x="6172199" y="5760720"/>
            <a:ext cx="914400" cy="914400"/>
          </a:xfrm>
          <a:prstGeom prst="rect">
            <a:avLst/>
          </a:prstGeom>
        </p:spPr>
      </p:pic>
      <p:pic>
        <p:nvPicPr>
          <p:cNvPr id="13" name="Picture 12" descr="shoe_4.jpg"/>
          <p:cNvPicPr>
            <a:picLocks noChangeAspect="1"/>
          </p:cNvPicPr>
          <p:nvPr/>
        </p:nvPicPr>
        <p:blipFill>
          <a:blip r:embed="rId6"/>
          <a:stretch>
            <a:fillRect/>
          </a:stretch>
        </p:blipFill>
        <p:spPr>
          <a:xfrm>
            <a:off x="8138160" y="5760720"/>
            <a:ext cx="914400" cy="914400"/>
          </a:xfrm>
          <a:prstGeom prst="rect">
            <a:avLst/>
          </a:prstGeom>
        </p:spPr>
      </p:pic>
      <p:pic>
        <p:nvPicPr>
          <p:cNvPr id="14" name="Picture 13" descr="shoe_5.jpg"/>
          <p:cNvPicPr>
            <a:picLocks noChangeAspect="1"/>
          </p:cNvPicPr>
          <p:nvPr/>
        </p:nvPicPr>
        <p:blipFill>
          <a:blip r:embed="rId7"/>
          <a:stretch>
            <a:fillRect/>
          </a:stretch>
        </p:blipFill>
        <p:spPr>
          <a:xfrm>
            <a:off x="10104120" y="5760720"/>
            <a:ext cx="914400" cy="9144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PCA &amp; Product Clustering</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KMeans (k=5)  |  Embedding Space  |  Women's Shoes</a:t>
            </a:r>
          </a:p>
        </p:txBody>
      </p:sp>
      <p:pic>
        <p:nvPicPr>
          <p:cNvPr id="5" name="Picture 4" descr="pca_2d_clusters.png"/>
          <p:cNvPicPr>
            <a:picLocks noChangeAspect="1"/>
          </p:cNvPicPr>
          <p:nvPr/>
        </p:nvPicPr>
        <p:blipFill>
          <a:blip r:embed="rId2"/>
          <a:stretch>
            <a:fillRect/>
          </a:stretch>
        </p:blipFill>
        <p:spPr>
          <a:xfrm>
            <a:off x="274320" y="1097280"/>
            <a:ext cx="6400800" cy="3200400"/>
          </a:xfrm>
          <a:prstGeom prst="rect">
            <a:avLst/>
          </a:prstGeom>
        </p:spPr>
      </p:pic>
      <p:sp>
        <p:nvSpPr>
          <p:cNvPr id="6" name="Rounded Rectangle 5"/>
          <p:cNvSpPr/>
          <p:nvPr/>
        </p:nvSpPr>
        <p:spPr>
          <a:xfrm>
            <a:off x="6858000" y="1097280"/>
            <a:ext cx="5029200" cy="457200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1188720"/>
            <a:ext cx="4663440" cy="365760"/>
          </a:xfrm>
          <a:prstGeom prst="rect">
            <a:avLst/>
          </a:prstGeom>
          <a:noFill/>
        </p:spPr>
        <p:txBody>
          <a:bodyPr wrap="square">
            <a:spAutoFit/>
          </a:bodyPr>
          <a:lstStyle/>
          <a:p>
            <a:pPr algn="l">
              <a:defRPr sz="2000" b="1" i="0">
                <a:solidFill>
                  <a:srgbClr val="EF5350"/>
                </a:solidFill>
                <a:latin typeface="Calibri"/>
              </a:defRPr>
            </a:pPr>
            <a:r>
              <a:t>Women's Shoe Clusters</a:t>
            </a:r>
          </a:p>
        </p:txBody>
      </p:sp>
      <p:sp>
        <p:nvSpPr>
          <p:cNvPr id="8" name="Rounded Rectangle 7"/>
          <p:cNvSpPr/>
          <p:nvPr/>
        </p:nvSpPr>
        <p:spPr>
          <a:xfrm>
            <a:off x="7040880" y="1691640"/>
            <a:ext cx="4663440" cy="640080"/>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0" y="1719072"/>
            <a:ext cx="1371600" cy="274320"/>
          </a:xfrm>
          <a:prstGeom prst="rect">
            <a:avLst/>
          </a:prstGeom>
          <a:noFill/>
        </p:spPr>
        <p:txBody>
          <a:bodyPr wrap="square">
            <a:spAutoFit/>
          </a:bodyPr>
          <a:lstStyle/>
          <a:p>
            <a:pPr algn="l">
              <a:defRPr sz="1400" b="1" i="0">
                <a:solidFill>
                  <a:srgbClr val="2C2C2C"/>
                </a:solidFill>
                <a:latin typeface="Calibri"/>
              </a:defRPr>
            </a:pPr>
            <a:r>
              <a:t>Cluster 0</a:t>
            </a:r>
          </a:p>
        </p:txBody>
      </p:sp>
      <p:sp>
        <p:nvSpPr>
          <p:cNvPr id="10" name="TextBox 9"/>
          <p:cNvSpPr txBox="1"/>
          <p:nvPr/>
        </p:nvSpPr>
        <p:spPr>
          <a:xfrm>
            <a:off x="8595360" y="1719072"/>
            <a:ext cx="1097280" cy="274320"/>
          </a:xfrm>
          <a:prstGeom prst="rect">
            <a:avLst/>
          </a:prstGeom>
          <a:noFill/>
        </p:spPr>
        <p:txBody>
          <a:bodyPr wrap="square">
            <a:spAutoFit/>
          </a:bodyPr>
          <a:lstStyle/>
          <a:p>
            <a:pPr algn="l">
              <a:defRPr sz="1300" b="0" i="0">
                <a:solidFill>
                  <a:srgbClr val="909090"/>
                </a:solidFill>
                <a:latin typeface="Calibri"/>
              </a:defRPr>
            </a:pPr>
            <a:r>
              <a:t>n=19,620</a:t>
            </a:r>
          </a:p>
        </p:txBody>
      </p:sp>
      <p:sp>
        <p:nvSpPr>
          <p:cNvPr id="11" name="TextBox 10"/>
          <p:cNvSpPr txBox="1"/>
          <p:nvPr/>
        </p:nvSpPr>
        <p:spPr>
          <a:xfrm>
            <a:off x="9692640" y="1719072"/>
            <a:ext cx="1280160" cy="274320"/>
          </a:xfrm>
          <a:prstGeom prst="rect">
            <a:avLst/>
          </a:prstGeom>
          <a:noFill/>
        </p:spPr>
        <p:txBody>
          <a:bodyPr wrap="square">
            <a:spAutoFit/>
          </a:bodyPr>
          <a:lstStyle/>
          <a:p>
            <a:pPr algn="l">
              <a:defRPr sz="1300" b="1" i="0">
                <a:solidFill>
                  <a:srgbClr val="EF5350"/>
                </a:solidFill>
                <a:latin typeface="Calibri"/>
              </a:defRPr>
            </a:pPr>
            <a:r>
              <a:t>-0.15 CATE</a:t>
            </a:r>
          </a:p>
        </p:txBody>
      </p:sp>
      <p:sp>
        <p:nvSpPr>
          <p:cNvPr id="12" name="TextBox 11"/>
          <p:cNvSpPr txBox="1"/>
          <p:nvPr/>
        </p:nvSpPr>
        <p:spPr>
          <a:xfrm>
            <a:off x="7223760" y="2011680"/>
            <a:ext cx="4389120" cy="274320"/>
          </a:xfrm>
          <a:prstGeom prst="rect">
            <a:avLst/>
          </a:prstGeom>
          <a:noFill/>
        </p:spPr>
        <p:txBody>
          <a:bodyPr wrap="square">
            <a:spAutoFit/>
          </a:bodyPr>
          <a:lstStyle/>
          <a:p>
            <a:pPr algn="l">
              <a:defRPr sz="1200" b="0" i="0">
                <a:solidFill>
                  <a:srgbClr val="909090"/>
                </a:solidFill>
                <a:latin typeface="Calibri"/>
              </a:defRPr>
            </a:pPr>
            <a:r>
              <a:t>Largest cluster</a:t>
            </a:r>
          </a:p>
        </p:txBody>
      </p:sp>
      <p:sp>
        <p:nvSpPr>
          <p:cNvPr id="13" name="Rounded Rectangle 12"/>
          <p:cNvSpPr/>
          <p:nvPr/>
        </p:nvSpPr>
        <p:spPr>
          <a:xfrm>
            <a:off x="7040880" y="2441448"/>
            <a:ext cx="4663440" cy="640080"/>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0" y="2468880"/>
            <a:ext cx="1371600" cy="274320"/>
          </a:xfrm>
          <a:prstGeom prst="rect">
            <a:avLst/>
          </a:prstGeom>
          <a:noFill/>
        </p:spPr>
        <p:txBody>
          <a:bodyPr wrap="square">
            <a:spAutoFit/>
          </a:bodyPr>
          <a:lstStyle/>
          <a:p>
            <a:pPr algn="l">
              <a:defRPr sz="1400" b="1" i="0">
                <a:solidFill>
                  <a:srgbClr val="2C2C2C"/>
                </a:solidFill>
                <a:latin typeface="Calibri"/>
              </a:defRPr>
            </a:pPr>
            <a:r>
              <a:t>Cluster 1</a:t>
            </a:r>
          </a:p>
        </p:txBody>
      </p:sp>
      <p:sp>
        <p:nvSpPr>
          <p:cNvPr id="15" name="TextBox 14"/>
          <p:cNvSpPr txBox="1"/>
          <p:nvPr/>
        </p:nvSpPr>
        <p:spPr>
          <a:xfrm>
            <a:off x="8595360" y="2468880"/>
            <a:ext cx="1097280" cy="274320"/>
          </a:xfrm>
          <a:prstGeom prst="rect">
            <a:avLst/>
          </a:prstGeom>
          <a:noFill/>
        </p:spPr>
        <p:txBody>
          <a:bodyPr wrap="square">
            <a:spAutoFit/>
          </a:bodyPr>
          <a:lstStyle/>
          <a:p>
            <a:pPr algn="l">
              <a:defRPr sz="1300" b="0" i="0">
                <a:solidFill>
                  <a:srgbClr val="909090"/>
                </a:solidFill>
                <a:latin typeface="Calibri"/>
              </a:defRPr>
            </a:pPr>
            <a:r>
              <a:t>n=17,194</a:t>
            </a:r>
          </a:p>
        </p:txBody>
      </p:sp>
      <p:sp>
        <p:nvSpPr>
          <p:cNvPr id="16" name="TextBox 15"/>
          <p:cNvSpPr txBox="1"/>
          <p:nvPr/>
        </p:nvSpPr>
        <p:spPr>
          <a:xfrm>
            <a:off x="9692640" y="2468880"/>
            <a:ext cx="1280160" cy="274320"/>
          </a:xfrm>
          <a:prstGeom prst="rect">
            <a:avLst/>
          </a:prstGeom>
          <a:noFill/>
        </p:spPr>
        <p:txBody>
          <a:bodyPr wrap="square">
            <a:spAutoFit/>
          </a:bodyPr>
          <a:lstStyle/>
          <a:p>
            <a:pPr algn="l">
              <a:defRPr sz="1300" b="1" i="0">
                <a:solidFill>
                  <a:srgbClr val="EF5350"/>
                </a:solidFill>
                <a:latin typeface="Calibri"/>
              </a:defRPr>
            </a:pPr>
            <a:r>
              <a:t>-0.14 CATE</a:t>
            </a:r>
          </a:p>
        </p:txBody>
      </p:sp>
      <p:sp>
        <p:nvSpPr>
          <p:cNvPr id="17" name="TextBox 16"/>
          <p:cNvSpPr txBox="1"/>
          <p:nvPr/>
        </p:nvSpPr>
        <p:spPr>
          <a:xfrm>
            <a:off x="7223760" y="2761488"/>
            <a:ext cx="4389120" cy="274320"/>
          </a:xfrm>
          <a:prstGeom prst="rect">
            <a:avLst/>
          </a:prstGeom>
          <a:noFill/>
        </p:spPr>
        <p:txBody>
          <a:bodyPr wrap="square">
            <a:spAutoFit/>
          </a:bodyPr>
          <a:lstStyle/>
          <a:p>
            <a:pPr algn="l">
              <a:defRPr sz="1200" b="0" i="0">
                <a:solidFill>
                  <a:srgbClr val="909090"/>
                </a:solidFill>
                <a:latin typeface="Calibri"/>
              </a:defRPr>
            </a:pPr>
            <a:r>
              <a:t>Second largest</a:t>
            </a:r>
          </a:p>
        </p:txBody>
      </p:sp>
      <p:sp>
        <p:nvSpPr>
          <p:cNvPr id="18" name="Rounded Rectangle 17"/>
          <p:cNvSpPr/>
          <p:nvPr/>
        </p:nvSpPr>
        <p:spPr>
          <a:xfrm>
            <a:off x="7040880" y="3191256"/>
            <a:ext cx="4663440" cy="6400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3218688"/>
            <a:ext cx="1371600" cy="274320"/>
          </a:xfrm>
          <a:prstGeom prst="rect">
            <a:avLst/>
          </a:prstGeom>
          <a:noFill/>
        </p:spPr>
        <p:txBody>
          <a:bodyPr wrap="square">
            <a:spAutoFit/>
          </a:bodyPr>
          <a:lstStyle/>
          <a:p>
            <a:pPr algn="l">
              <a:defRPr sz="1400" b="1" i="0">
                <a:solidFill>
                  <a:srgbClr val="2C2C2C"/>
                </a:solidFill>
                <a:latin typeface="Calibri"/>
              </a:defRPr>
            </a:pPr>
            <a:r>
              <a:t>Cluster 2</a:t>
            </a:r>
          </a:p>
        </p:txBody>
      </p:sp>
      <p:sp>
        <p:nvSpPr>
          <p:cNvPr id="20" name="TextBox 19"/>
          <p:cNvSpPr txBox="1"/>
          <p:nvPr/>
        </p:nvSpPr>
        <p:spPr>
          <a:xfrm>
            <a:off x="8595360" y="3218688"/>
            <a:ext cx="1097280" cy="274320"/>
          </a:xfrm>
          <a:prstGeom prst="rect">
            <a:avLst/>
          </a:prstGeom>
          <a:noFill/>
        </p:spPr>
        <p:txBody>
          <a:bodyPr wrap="square">
            <a:spAutoFit/>
          </a:bodyPr>
          <a:lstStyle/>
          <a:p>
            <a:pPr algn="l">
              <a:defRPr sz="1300" b="0" i="0">
                <a:solidFill>
                  <a:srgbClr val="909090"/>
                </a:solidFill>
                <a:latin typeface="Calibri"/>
              </a:defRPr>
            </a:pPr>
            <a:r>
              <a:t>n=9,211</a:t>
            </a:r>
          </a:p>
        </p:txBody>
      </p:sp>
      <p:sp>
        <p:nvSpPr>
          <p:cNvPr id="21" name="TextBox 20"/>
          <p:cNvSpPr txBox="1"/>
          <p:nvPr/>
        </p:nvSpPr>
        <p:spPr>
          <a:xfrm>
            <a:off x="9692640" y="3218688"/>
            <a:ext cx="1280160" cy="274320"/>
          </a:xfrm>
          <a:prstGeom prst="rect">
            <a:avLst/>
          </a:prstGeom>
          <a:noFill/>
        </p:spPr>
        <p:txBody>
          <a:bodyPr wrap="square">
            <a:spAutoFit/>
          </a:bodyPr>
          <a:lstStyle/>
          <a:p>
            <a:pPr algn="l">
              <a:defRPr sz="1300" b="1" i="0">
                <a:solidFill>
                  <a:srgbClr val="EF5350"/>
                </a:solidFill>
                <a:latin typeface="Calibri"/>
              </a:defRPr>
            </a:pPr>
            <a:r>
              <a:t>-0.34 CATE</a:t>
            </a:r>
          </a:p>
        </p:txBody>
      </p:sp>
      <p:sp>
        <p:nvSpPr>
          <p:cNvPr id="22" name="TextBox 21"/>
          <p:cNvSpPr txBox="1"/>
          <p:nvPr/>
        </p:nvSpPr>
        <p:spPr>
          <a:xfrm>
            <a:off x="7223760" y="3511296"/>
            <a:ext cx="4389120" cy="274320"/>
          </a:xfrm>
          <a:prstGeom prst="rect">
            <a:avLst/>
          </a:prstGeom>
          <a:noFill/>
        </p:spPr>
        <p:txBody>
          <a:bodyPr wrap="square">
            <a:spAutoFit/>
          </a:bodyPr>
          <a:lstStyle/>
          <a:p>
            <a:pPr algn="l">
              <a:defRPr sz="1200" b="0" i="0">
                <a:solidFill>
                  <a:srgbClr val="909090"/>
                </a:solidFill>
                <a:latin typeface="Calibri"/>
              </a:defRPr>
            </a:pPr>
            <a:r>
              <a:t>High sensitivity</a:t>
            </a:r>
          </a:p>
        </p:txBody>
      </p:sp>
      <p:sp>
        <p:nvSpPr>
          <p:cNvPr id="23" name="Rounded Rectangle 22"/>
          <p:cNvSpPr/>
          <p:nvPr/>
        </p:nvSpPr>
        <p:spPr>
          <a:xfrm>
            <a:off x="7040880" y="3941064"/>
            <a:ext cx="4663440" cy="64008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68496"/>
            <a:ext cx="1371600" cy="274320"/>
          </a:xfrm>
          <a:prstGeom prst="rect">
            <a:avLst/>
          </a:prstGeom>
          <a:noFill/>
        </p:spPr>
        <p:txBody>
          <a:bodyPr wrap="square">
            <a:spAutoFit/>
          </a:bodyPr>
          <a:lstStyle/>
          <a:p>
            <a:pPr algn="l">
              <a:defRPr sz="1400" b="1" i="0">
                <a:solidFill>
                  <a:srgbClr val="2C2C2C"/>
                </a:solidFill>
                <a:latin typeface="Calibri"/>
              </a:defRPr>
            </a:pPr>
            <a:r>
              <a:t>Cluster 3</a:t>
            </a:r>
          </a:p>
        </p:txBody>
      </p:sp>
      <p:sp>
        <p:nvSpPr>
          <p:cNvPr id="25" name="TextBox 24"/>
          <p:cNvSpPr txBox="1"/>
          <p:nvPr/>
        </p:nvSpPr>
        <p:spPr>
          <a:xfrm>
            <a:off x="8595360" y="3968496"/>
            <a:ext cx="1097280" cy="274320"/>
          </a:xfrm>
          <a:prstGeom prst="rect">
            <a:avLst/>
          </a:prstGeom>
          <a:noFill/>
        </p:spPr>
        <p:txBody>
          <a:bodyPr wrap="square">
            <a:spAutoFit/>
          </a:bodyPr>
          <a:lstStyle/>
          <a:p>
            <a:pPr algn="l">
              <a:defRPr sz="1300" b="0" i="0">
                <a:solidFill>
                  <a:srgbClr val="909090"/>
                </a:solidFill>
                <a:latin typeface="Calibri"/>
              </a:defRPr>
            </a:pPr>
            <a:r>
              <a:t>n=9,026</a:t>
            </a:r>
          </a:p>
        </p:txBody>
      </p:sp>
      <p:sp>
        <p:nvSpPr>
          <p:cNvPr id="26" name="TextBox 25"/>
          <p:cNvSpPr txBox="1"/>
          <p:nvPr/>
        </p:nvSpPr>
        <p:spPr>
          <a:xfrm>
            <a:off x="9692640" y="3968496"/>
            <a:ext cx="1280160" cy="274320"/>
          </a:xfrm>
          <a:prstGeom prst="rect">
            <a:avLst/>
          </a:prstGeom>
          <a:noFill/>
        </p:spPr>
        <p:txBody>
          <a:bodyPr wrap="square">
            <a:spAutoFit/>
          </a:bodyPr>
          <a:lstStyle/>
          <a:p>
            <a:pPr algn="l">
              <a:defRPr sz="1300" b="1" i="0">
                <a:solidFill>
                  <a:srgbClr val="EF5350"/>
                </a:solidFill>
                <a:latin typeface="Calibri"/>
              </a:defRPr>
            </a:pPr>
            <a:r>
              <a:t>-0.14 CATE</a:t>
            </a:r>
          </a:p>
        </p:txBody>
      </p:sp>
      <p:sp>
        <p:nvSpPr>
          <p:cNvPr id="27" name="TextBox 26"/>
          <p:cNvSpPr txBox="1"/>
          <p:nvPr/>
        </p:nvSpPr>
        <p:spPr>
          <a:xfrm>
            <a:off x="7223760" y="4261104"/>
            <a:ext cx="4389120" cy="274320"/>
          </a:xfrm>
          <a:prstGeom prst="rect">
            <a:avLst/>
          </a:prstGeom>
          <a:noFill/>
        </p:spPr>
        <p:txBody>
          <a:bodyPr wrap="square">
            <a:spAutoFit/>
          </a:bodyPr>
          <a:lstStyle/>
          <a:p>
            <a:pPr algn="l">
              <a:defRPr sz="1200" b="0" i="0">
                <a:solidFill>
                  <a:srgbClr val="909090"/>
                </a:solidFill>
                <a:latin typeface="Calibri"/>
              </a:defRPr>
            </a:pPr>
            <a:r>
              <a:t>Moderate</a:t>
            </a:r>
          </a:p>
        </p:txBody>
      </p:sp>
      <p:sp>
        <p:nvSpPr>
          <p:cNvPr id="28" name="Rounded Rectangle 27"/>
          <p:cNvSpPr/>
          <p:nvPr/>
        </p:nvSpPr>
        <p:spPr>
          <a:xfrm>
            <a:off x="7040880" y="4690872"/>
            <a:ext cx="4663440" cy="6400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0" y="4718304"/>
            <a:ext cx="1371600" cy="274320"/>
          </a:xfrm>
          <a:prstGeom prst="rect">
            <a:avLst/>
          </a:prstGeom>
          <a:noFill/>
        </p:spPr>
        <p:txBody>
          <a:bodyPr wrap="square">
            <a:spAutoFit/>
          </a:bodyPr>
          <a:lstStyle/>
          <a:p>
            <a:pPr algn="l">
              <a:defRPr sz="1400" b="1" i="0">
                <a:solidFill>
                  <a:srgbClr val="2C2C2C"/>
                </a:solidFill>
                <a:latin typeface="Calibri"/>
              </a:defRPr>
            </a:pPr>
            <a:r>
              <a:t>Cluster 4</a:t>
            </a:r>
          </a:p>
        </p:txBody>
      </p:sp>
      <p:sp>
        <p:nvSpPr>
          <p:cNvPr id="30" name="TextBox 29"/>
          <p:cNvSpPr txBox="1"/>
          <p:nvPr/>
        </p:nvSpPr>
        <p:spPr>
          <a:xfrm>
            <a:off x="8595360" y="4718304"/>
            <a:ext cx="1097280" cy="274320"/>
          </a:xfrm>
          <a:prstGeom prst="rect">
            <a:avLst/>
          </a:prstGeom>
          <a:noFill/>
        </p:spPr>
        <p:txBody>
          <a:bodyPr wrap="square">
            <a:spAutoFit/>
          </a:bodyPr>
          <a:lstStyle/>
          <a:p>
            <a:pPr algn="l">
              <a:defRPr sz="1300" b="0" i="0">
                <a:solidFill>
                  <a:srgbClr val="909090"/>
                </a:solidFill>
                <a:latin typeface="Calibri"/>
              </a:defRPr>
            </a:pPr>
            <a:r>
              <a:t>n=4,927</a:t>
            </a:r>
          </a:p>
        </p:txBody>
      </p:sp>
      <p:sp>
        <p:nvSpPr>
          <p:cNvPr id="31" name="TextBox 30"/>
          <p:cNvSpPr txBox="1"/>
          <p:nvPr/>
        </p:nvSpPr>
        <p:spPr>
          <a:xfrm>
            <a:off x="9692640" y="4718304"/>
            <a:ext cx="1280160" cy="274320"/>
          </a:xfrm>
          <a:prstGeom prst="rect">
            <a:avLst/>
          </a:prstGeom>
          <a:noFill/>
        </p:spPr>
        <p:txBody>
          <a:bodyPr wrap="square">
            <a:spAutoFit/>
          </a:bodyPr>
          <a:lstStyle/>
          <a:p>
            <a:pPr algn="l">
              <a:defRPr sz="1300" b="1" i="0">
                <a:solidFill>
                  <a:srgbClr val="EF5350"/>
                </a:solidFill>
                <a:latin typeface="Calibri"/>
              </a:defRPr>
            </a:pPr>
            <a:r>
              <a:t>-0.43 CATE</a:t>
            </a:r>
          </a:p>
        </p:txBody>
      </p:sp>
      <p:sp>
        <p:nvSpPr>
          <p:cNvPr id="32" name="TextBox 31"/>
          <p:cNvSpPr txBox="1"/>
          <p:nvPr/>
        </p:nvSpPr>
        <p:spPr>
          <a:xfrm>
            <a:off x="7223760" y="5010912"/>
            <a:ext cx="4389120" cy="274320"/>
          </a:xfrm>
          <a:prstGeom prst="rect">
            <a:avLst/>
          </a:prstGeom>
          <a:noFill/>
        </p:spPr>
        <p:txBody>
          <a:bodyPr wrap="square">
            <a:spAutoFit/>
          </a:bodyPr>
          <a:lstStyle/>
          <a:p>
            <a:pPr algn="l">
              <a:defRPr sz="1200" b="0" i="0">
                <a:solidFill>
                  <a:srgbClr val="909090"/>
                </a:solidFill>
                <a:latin typeface="Calibri"/>
              </a:defRPr>
            </a:pPr>
            <a:r>
              <a:t>Most elastic</a:t>
            </a:r>
          </a:p>
        </p:txBody>
      </p:sp>
      <p:pic>
        <p:nvPicPr>
          <p:cNvPr id="33" name="Picture 32" descr="collage_cluster_img_0.png"/>
          <p:cNvPicPr>
            <a:picLocks noChangeAspect="1"/>
          </p:cNvPicPr>
          <p:nvPr/>
        </p:nvPicPr>
        <p:blipFill>
          <a:blip r:embed="rId3"/>
          <a:stretch>
            <a:fillRect/>
          </a:stretch>
        </p:blipFill>
        <p:spPr>
          <a:xfrm>
            <a:off x="274320" y="4846320"/>
            <a:ext cx="5486400" cy="1257300"/>
          </a:xfrm>
          <a:prstGeom prst="rect">
            <a:avLst/>
          </a:prstGeom>
        </p:spPr>
      </p:pic>
      <p:pic>
        <p:nvPicPr>
          <p:cNvPr id="34" name="Picture 33" descr="collage_cluster_img_2.png"/>
          <p:cNvPicPr>
            <a:picLocks noChangeAspect="1"/>
          </p:cNvPicPr>
          <p:nvPr/>
        </p:nvPicPr>
        <p:blipFill>
          <a:blip r:embed="rId4"/>
          <a:stretch>
            <a:fillRect/>
          </a:stretch>
        </p:blipFill>
        <p:spPr>
          <a:xfrm>
            <a:off x="5943600" y="5760720"/>
            <a:ext cx="5943600" cy="136207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Price Elasticity Results: Women's Shoes</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DoubleML Partially Linear Regression (PLR)</a:t>
            </a:r>
          </a:p>
        </p:txBody>
      </p:sp>
      <p:pic>
        <p:nvPicPr>
          <p:cNvPr id="5" name="Picture 4" descr="image.png"/>
          <p:cNvPicPr>
            <a:picLocks noChangeAspect="1"/>
          </p:cNvPicPr>
          <p:nvPr/>
        </p:nvPicPr>
        <p:blipFill>
          <a:blip r:embed="rId2"/>
          <a:stretch>
            <a:fillRect/>
          </a:stretch>
        </p:blipFill>
        <p:spPr>
          <a:xfrm>
            <a:off x="182880" y="1097280"/>
            <a:ext cx="7315200" cy="3657600"/>
          </a:xfrm>
          <a:prstGeom prst="rect">
            <a:avLst/>
          </a:prstGeom>
        </p:spPr>
      </p:pic>
      <p:sp>
        <p:nvSpPr>
          <p:cNvPr id="6" name="Rounded Rectangle 5"/>
          <p:cNvSpPr/>
          <p:nvPr/>
        </p:nvSpPr>
        <p:spPr>
          <a:xfrm>
            <a:off x="7772400" y="1188720"/>
            <a:ext cx="4114800" cy="274320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280160"/>
            <a:ext cx="3749039" cy="365760"/>
          </a:xfrm>
          <a:prstGeom prst="rect">
            <a:avLst/>
          </a:prstGeom>
          <a:noFill/>
        </p:spPr>
        <p:txBody>
          <a:bodyPr wrap="square">
            <a:spAutoFit/>
          </a:bodyPr>
          <a:lstStyle/>
          <a:p>
            <a:pPr algn="l">
              <a:defRPr sz="2000" b="1" i="0">
                <a:solidFill>
                  <a:srgbClr val="EF5350"/>
                </a:solidFill>
                <a:latin typeface="Calibri"/>
              </a:defRPr>
            </a:pPr>
            <a:r>
              <a:t>Key Finding</a:t>
            </a:r>
          </a:p>
        </p:txBody>
      </p:sp>
      <p:sp>
        <p:nvSpPr>
          <p:cNvPr id="8" name="TextBox 7"/>
          <p:cNvSpPr txBox="1"/>
          <p:nvPr/>
        </p:nvSpPr>
        <p:spPr>
          <a:xfrm>
            <a:off x="7955279" y="1828800"/>
            <a:ext cx="3749039" cy="731520"/>
          </a:xfrm>
          <a:prstGeom prst="rect">
            <a:avLst/>
          </a:prstGeom>
          <a:noFill/>
        </p:spPr>
        <p:txBody>
          <a:bodyPr wrap="square">
            <a:spAutoFit/>
          </a:bodyPr>
          <a:lstStyle/>
          <a:p>
            <a:pPr algn="ctr">
              <a:defRPr sz="3800" b="1" i="0">
                <a:solidFill>
                  <a:srgbClr val="2C2C2C"/>
                </a:solidFill>
                <a:latin typeface="Calibri"/>
              </a:defRPr>
            </a:pPr>
            <a:r>
              <a:t>~-0.07 to -0.09</a:t>
            </a:r>
          </a:p>
        </p:txBody>
      </p:sp>
      <p:sp>
        <p:nvSpPr>
          <p:cNvPr id="9" name="TextBox 8"/>
          <p:cNvSpPr txBox="1"/>
          <p:nvPr/>
        </p:nvSpPr>
        <p:spPr>
          <a:xfrm>
            <a:off x="7955279" y="2651760"/>
            <a:ext cx="3749039" cy="731520"/>
          </a:xfrm>
          <a:prstGeom prst="rect">
            <a:avLst/>
          </a:prstGeom>
          <a:noFill/>
        </p:spPr>
        <p:txBody>
          <a:bodyPr wrap="square">
            <a:spAutoFit/>
          </a:bodyPr>
          <a:lstStyle/>
          <a:p>
            <a:pPr algn="ctr">
              <a:defRPr sz="1400" b="0" i="0">
                <a:solidFill>
                  <a:srgbClr val="2C2C2C"/>
                </a:solidFill>
                <a:latin typeface="Calibri"/>
              </a:defRPr>
            </a:pPr>
            <a:r>
              <a:t>Significant negative elasticity</a:t>
            </a:r>
            <a:br/>
            <a:r>
              <a:t>across all PLR specifications</a:t>
            </a:r>
            <a:br/>
            <a:br/>
            <a:r>
              <a:t>5,147 ASINs in analysis</a:t>
            </a:r>
          </a:p>
        </p:txBody>
      </p:sp>
      <p:pic>
        <p:nvPicPr>
          <p:cNvPr id="10" name="Picture 9" descr="plr_ate_estimates.png"/>
          <p:cNvPicPr>
            <a:picLocks noChangeAspect="1"/>
          </p:cNvPicPr>
          <p:nvPr/>
        </p:nvPicPr>
        <p:blipFill>
          <a:blip r:embed="rId3"/>
          <a:stretch>
            <a:fillRect/>
          </a:stretch>
        </p:blipFill>
        <p:spPr>
          <a:xfrm>
            <a:off x="182880" y="4389120"/>
            <a:ext cx="5029200" cy="3017520"/>
          </a:xfrm>
          <a:prstGeom prst="rect">
            <a:avLst/>
          </a:prstGeom>
        </p:spPr>
      </p:pic>
      <p:sp>
        <p:nvSpPr>
          <p:cNvPr id="11" name="Rounded Rectangle 10"/>
          <p:cNvSpPr/>
          <p:nvPr/>
        </p:nvSpPr>
        <p:spPr>
          <a:xfrm>
            <a:off x="7772400" y="4114800"/>
            <a:ext cx="4114800" cy="25603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4160520"/>
            <a:ext cx="3749039" cy="320040"/>
          </a:xfrm>
          <a:prstGeom prst="rect">
            <a:avLst/>
          </a:prstGeom>
          <a:noFill/>
        </p:spPr>
        <p:txBody>
          <a:bodyPr wrap="square">
            <a:spAutoFit/>
          </a:bodyPr>
          <a:lstStyle/>
          <a:p>
            <a:pPr algn="l">
              <a:defRPr sz="1700" b="1" i="0">
                <a:solidFill>
                  <a:srgbClr val="2C2C2C"/>
                </a:solidFill>
                <a:latin typeface="Calibri"/>
              </a:defRPr>
            </a:pPr>
            <a:r>
              <a:t>PLR Specifications</a:t>
            </a:r>
          </a:p>
        </p:txBody>
      </p:sp>
      <p:sp>
        <p:nvSpPr>
          <p:cNvPr id="13" name="TextBox 12"/>
          <p:cNvSpPr txBox="1"/>
          <p:nvPr/>
        </p:nvSpPr>
        <p:spPr>
          <a:xfrm>
            <a:off x="8046720" y="4572000"/>
            <a:ext cx="2560320" cy="320040"/>
          </a:xfrm>
          <a:prstGeom prst="rect">
            <a:avLst/>
          </a:prstGeom>
          <a:noFill/>
        </p:spPr>
        <p:txBody>
          <a:bodyPr wrap="square">
            <a:spAutoFit/>
          </a:bodyPr>
          <a:lstStyle/>
          <a:p>
            <a:pPr algn="l">
              <a:defRPr sz="1400" b="0" i="0">
                <a:solidFill>
                  <a:srgbClr val="2C2C2C"/>
                </a:solidFill>
                <a:latin typeface="Calibri"/>
              </a:defRPr>
            </a:pPr>
            <a:r>
              <a:t>+ Embeddings</a:t>
            </a:r>
          </a:p>
        </p:txBody>
      </p:sp>
      <p:sp>
        <p:nvSpPr>
          <p:cNvPr id="14" name="TextBox 13"/>
          <p:cNvSpPr txBox="1"/>
          <p:nvPr/>
        </p:nvSpPr>
        <p:spPr>
          <a:xfrm>
            <a:off x="10515600" y="4572000"/>
            <a:ext cx="1188720" cy="320040"/>
          </a:xfrm>
          <a:prstGeom prst="rect">
            <a:avLst/>
          </a:prstGeom>
          <a:noFill/>
        </p:spPr>
        <p:txBody>
          <a:bodyPr wrap="square">
            <a:spAutoFit/>
          </a:bodyPr>
          <a:lstStyle/>
          <a:p>
            <a:pPr algn="r">
              <a:defRPr sz="1400" b="1" i="0">
                <a:solidFill>
                  <a:srgbClr val="EF5350"/>
                </a:solidFill>
                <a:latin typeface="Calibri"/>
              </a:defRPr>
            </a:pPr>
            <a:r>
              <a:t>~-0.09</a:t>
            </a:r>
          </a:p>
        </p:txBody>
      </p:sp>
      <p:sp>
        <p:nvSpPr>
          <p:cNvPr id="15" name="TextBox 14"/>
          <p:cNvSpPr txBox="1"/>
          <p:nvPr/>
        </p:nvSpPr>
        <p:spPr>
          <a:xfrm>
            <a:off x="8046720" y="4956048"/>
            <a:ext cx="2560320" cy="320040"/>
          </a:xfrm>
          <a:prstGeom prst="rect">
            <a:avLst/>
          </a:prstGeom>
          <a:noFill/>
        </p:spPr>
        <p:txBody>
          <a:bodyPr wrap="square">
            <a:spAutoFit/>
          </a:bodyPr>
          <a:lstStyle/>
          <a:p>
            <a:pPr algn="l">
              <a:defRPr sz="1400" b="0" i="0">
                <a:solidFill>
                  <a:srgbClr val="2C2C2C"/>
                </a:solidFill>
                <a:latin typeface="Calibri"/>
              </a:defRPr>
            </a:pPr>
            <a:r>
              <a:t>+ Controls</a:t>
            </a:r>
          </a:p>
        </p:txBody>
      </p:sp>
      <p:sp>
        <p:nvSpPr>
          <p:cNvPr id="16" name="TextBox 15"/>
          <p:cNvSpPr txBox="1"/>
          <p:nvPr/>
        </p:nvSpPr>
        <p:spPr>
          <a:xfrm>
            <a:off x="10515600" y="4956048"/>
            <a:ext cx="1188720" cy="320040"/>
          </a:xfrm>
          <a:prstGeom prst="rect">
            <a:avLst/>
          </a:prstGeom>
          <a:noFill/>
        </p:spPr>
        <p:txBody>
          <a:bodyPr wrap="square">
            <a:spAutoFit/>
          </a:bodyPr>
          <a:lstStyle/>
          <a:p>
            <a:pPr algn="r">
              <a:defRPr sz="1400" b="1" i="0">
                <a:solidFill>
                  <a:srgbClr val="EF5350"/>
                </a:solidFill>
                <a:latin typeface="Calibri"/>
              </a:defRPr>
            </a:pPr>
            <a:r>
              <a:t>~-0.07</a:t>
            </a:r>
          </a:p>
        </p:txBody>
      </p:sp>
      <p:sp>
        <p:nvSpPr>
          <p:cNvPr id="17" name="TextBox 16"/>
          <p:cNvSpPr txBox="1"/>
          <p:nvPr/>
        </p:nvSpPr>
        <p:spPr>
          <a:xfrm>
            <a:off x="8046720" y="5340096"/>
            <a:ext cx="2560320" cy="320040"/>
          </a:xfrm>
          <a:prstGeom prst="rect">
            <a:avLst/>
          </a:prstGeom>
          <a:noFill/>
        </p:spPr>
        <p:txBody>
          <a:bodyPr wrap="square">
            <a:spAutoFit/>
          </a:bodyPr>
          <a:lstStyle/>
          <a:p>
            <a:pPr algn="l">
              <a:defRPr sz="1400" b="0" i="0">
                <a:solidFill>
                  <a:srgbClr val="2C2C2C"/>
                </a:solidFill>
                <a:latin typeface="Calibri"/>
              </a:defRPr>
            </a:pPr>
            <a:r>
              <a:t>+ Emb + Controls</a:t>
            </a:r>
          </a:p>
        </p:txBody>
      </p:sp>
      <p:sp>
        <p:nvSpPr>
          <p:cNvPr id="18" name="TextBox 17"/>
          <p:cNvSpPr txBox="1"/>
          <p:nvPr/>
        </p:nvSpPr>
        <p:spPr>
          <a:xfrm>
            <a:off x="10515600" y="5340096"/>
            <a:ext cx="1188720" cy="320040"/>
          </a:xfrm>
          <a:prstGeom prst="rect">
            <a:avLst/>
          </a:prstGeom>
          <a:noFill/>
        </p:spPr>
        <p:txBody>
          <a:bodyPr wrap="square">
            <a:spAutoFit/>
          </a:bodyPr>
          <a:lstStyle/>
          <a:p>
            <a:pPr algn="r">
              <a:defRPr sz="1400" b="1" i="0">
                <a:solidFill>
                  <a:srgbClr val="EF5350"/>
                </a:solidFill>
                <a:latin typeface="Calibri"/>
              </a:defRPr>
            </a:pPr>
            <a:r>
              <a:t>~-0.065</a:t>
            </a:r>
          </a:p>
        </p:txBody>
      </p:sp>
      <p:sp>
        <p:nvSpPr>
          <p:cNvPr id="19" name="TextBox 18"/>
          <p:cNvSpPr txBox="1"/>
          <p:nvPr/>
        </p:nvSpPr>
        <p:spPr>
          <a:xfrm>
            <a:off x="8046720" y="5724144"/>
            <a:ext cx="2560320" cy="320040"/>
          </a:xfrm>
          <a:prstGeom prst="rect">
            <a:avLst/>
          </a:prstGeom>
          <a:noFill/>
        </p:spPr>
        <p:txBody>
          <a:bodyPr wrap="square">
            <a:spAutoFit/>
          </a:bodyPr>
          <a:lstStyle/>
          <a:p>
            <a:pPr algn="l">
              <a:defRPr sz="1400" b="0" i="0">
                <a:solidFill>
                  <a:srgbClr val="2C2C2C"/>
                </a:solidFill>
                <a:latin typeface="Calibri"/>
              </a:defRPr>
            </a:pPr>
            <a:r>
              <a:t>+ Sim + Controls</a:t>
            </a:r>
          </a:p>
        </p:txBody>
      </p:sp>
      <p:sp>
        <p:nvSpPr>
          <p:cNvPr id="20" name="TextBox 19"/>
          <p:cNvSpPr txBox="1"/>
          <p:nvPr/>
        </p:nvSpPr>
        <p:spPr>
          <a:xfrm>
            <a:off x="10515600" y="5724144"/>
            <a:ext cx="1188720" cy="320040"/>
          </a:xfrm>
          <a:prstGeom prst="rect">
            <a:avLst/>
          </a:prstGeom>
          <a:noFill/>
        </p:spPr>
        <p:txBody>
          <a:bodyPr wrap="square">
            <a:spAutoFit/>
          </a:bodyPr>
          <a:lstStyle/>
          <a:p>
            <a:pPr algn="r">
              <a:defRPr sz="1400" b="1" i="0">
                <a:solidFill>
                  <a:srgbClr val="EF5350"/>
                </a:solidFill>
                <a:latin typeface="Calibri"/>
              </a:defRPr>
            </a:pPr>
            <a:r>
              <a:t>~-0.08</a:t>
            </a:r>
          </a:p>
        </p:txBody>
      </p:sp>
      <p:sp>
        <p:nvSpPr>
          <p:cNvPr id="21" name="TextBox 20"/>
          <p:cNvSpPr txBox="1"/>
          <p:nvPr/>
        </p:nvSpPr>
        <p:spPr>
          <a:xfrm>
            <a:off x="8046720" y="6108192"/>
            <a:ext cx="2560320" cy="320040"/>
          </a:xfrm>
          <a:prstGeom prst="rect">
            <a:avLst/>
          </a:prstGeom>
          <a:noFill/>
        </p:spPr>
        <p:txBody>
          <a:bodyPr wrap="square">
            <a:spAutoFit/>
          </a:bodyPr>
          <a:lstStyle/>
          <a:p>
            <a:pPr algn="l">
              <a:defRPr sz="1400" b="0" i="0">
                <a:solidFill>
                  <a:srgbClr val="2C2C2C"/>
                </a:solidFill>
                <a:latin typeface="Calibri"/>
              </a:defRPr>
            </a:pPr>
            <a:r>
              <a:t>+ PCA + Controls</a:t>
            </a:r>
          </a:p>
        </p:txBody>
      </p:sp>
      <p:sp>
        <p:nvSpPr>
          <p:cNvPr id="22" name="TextBox 21"/>
          <p:cNvSpPr txBox="1"/>
          <p:nvPr/>
        </p:nvSpPr>
        <p:spPr>
          <a:xfrm>
            <a:off x="10515600" y="6108192"/>
            <a:ext cx="1188720" cy="320040"/>
          </a:xfrm>
          <a:prstGeom prst="rect">
            <a:avLst/>
          </a:prstGeom>
          <a:noFill/>
        </p:spPr>
        <p:txBody>
          <a:bodyPr wrap="square">
            <a:spAutoFit/>
          </a:bodyPr>
          <a:lstStyle/>
          <a:p>
            <a:pPr algn="r">
              <a:defRPr sz="1400" b="1" i="0">
                <a:solidFill>
                  <a:srgbClr val="EF5350"/>
                </a:solidFill>
                <a:latin typeface="Calibri"/>
              </a:defRPr>
            </a:pPr>
            <a:r>
              <a:t>~-0.06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defRPr sz="3000" b="1" i="0">
                <a:solidFill>
                  <a:srgbClr val="2C2C2C"/>
                </a:solidFill>
                <a:latin typeface="Calibri"/>
              </a:defRPr>
            </a:pPr>
            <a:r>
              <a:t>Heterogeneous Effects (CATE)</a:t>
            </a:r>
          </a:p>
        </p:txBody>
      </p:sp>
      <p:sp>
        <p:nvSpPr>
          <p:cNvPr id="4" name="TextBox 3"/>
          <p:cNvSpPr txBox="1"/>
          <p:nvPr/>
        </p:nvSpPr>
        <p:spPr>
          <a:xfrm>
            <a:off x="457200" y="685800"/>
            <a:ext cx="9144000" cy="365760"/>
          </a:xfrm>
          <a:prstGeom prst="rect">
            <a:avLst/>
          </a:prstGeom>
          <a:noFill/>
        </p:spPr>
        <p:txBody>
          <a:bodyPr wrap="square">
            <a:spAutoFit/>
          </a:bodyPr>
          <a:lstStyle/>
          <a:p>
            <a:pPr algn="l">
              <a:defRPr sz="1500" b="0" i="1">
                <a:solidFill>
                  <a:srgbClr val="909090"/>
                </a:solidFill>
                <a:latin typeface="Calibri"/>
              </a:defRPr>
            </a:pPr>
            <a:r>
              <a:t>Price Sensitivity by Cluster  |  Women's Shoes</a:t>
            </a:r>
          </a:p>
        </p:txBody>
      </p:sp>
      <p:pic>
        <p:nvPicPr>
          <p:cNvPr id="5" name="Picture 4" descr="cate_scatter_per_cluster.png"/>
          <p:cNvPicPr>
            <a:picLocks noChangeAspect="1"/>
          </p:cNvPicPr>
          <p:nvPr/>
        </p:nvPicPr>
        <p:blipFill>
          <a:blip r:embed="rId2"/>
          <a:stretch>
            <a:fillRect/>
          </a:stretch>
        </p:blipFill>
        <p:spPr>
          <a:xfrm>
            <a:off x="182880" y="1097280"/>
            <a:ext cx="7315200" cy="1907247"/>
          </a:xfrm>
          <a:prstGeom prst="rect">
            <a:avLst/>
          </a:prstGeom>
        </p:spPr>
      </p:pic>
      <p:sp>
        <p:nvSpPr>
          <p:cNvPr id="6" name="Rounded Rectangle 5"/>
          <p:cNvSpPr/>
          <p:nvPr/>
        </p:nvSpPr>
        <p:spPr>
          <a:xfrm>
            <a:off x="7589520" y="1097280"/>
            <a:ext cx="4297680" cy="475488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188720"/>
            <a:ext cx="3931920" cy="320040"/>
          </a:xfrm>
          <a:prstGeom prst="rect">
            <a:avLst/>
          </a:prstGeom>
          <a:noFill/>
        </p:spPr>
        <p:txBody>
          <a:bodyPr wrap="square">
            <a:spAutoFit/>
          </a:bodyPr>
          <a:lstStyle/>
          <a:p>
            <a:pPr algn="l">
              <a:defRPr sz="1800" b="1" i="0">
                <a:solidFill>
                  <a:srgbClr val="2C2C2C"/>
                </a:solidFill>
                <a:latin typeface="Calibri"/>
              </a:defRPr>
            </a:pPr>
            <a:r>
              <a:t>Price Sensitivity by Cluster</a:t>
            </a:r>
          </a:p>
        </p:txBody>
      </p:sp>
      <p:sp>
        <p:nvSpPr>
          <p:cNvPr id="8" name="Rounded Rectangle 7"/>
          <p:cNvSpPr/>
          <p:nvPr/>
        </p:nvSpPr>
        <p:spPr>
          <a:xfrm>
            <a:off x="7772400" y="1645920"/>
            <a:ext cx="3931920" cy="658368"/>
          </a:xfrm>
          <a:prstGeom prst="round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64208"/>
            <a:ext cx="822960" cy="301752"/>
          </a:xfrm>
          <a:prstGeom prst="rect">
            <a:avLst/>
          </a:prstGeom>
          <a:noFill/>
        </p:spPr>
        <p:txBody>
          <a:bodyPr wrap="square">
            <a:spAutoFit/>
          </a:bodyPr>
          <a:lstStyle/>
          <a:p>
            <a:pPr algn="l">
              <a:defRPr sz="1400" b="1" i="0">
                <a:solidFill>
                  <a:srgbClr val="2C2C2C"/>
                </a:solidFill>
                <a:latin typeface="Calibri"/>
              </a:defRPr>
            </a:pPr>
            <a:r>
              <a:t>Cl. 0</a:t>
            </a:r>
          </a:p>
        </p:txBody>
      </p:sp>
      <p:sp>
        <p:nvSpPr>
          <p:cNvPr id="10" name="TextBox 9"/>
          <p:cNvSpPr txBox="1"/>
          <p:nvPr/>
        </p:nvSpPr>
        <p:spPr>
          <a:xfrm>
            <a:off x="8686800" y="1664208"/>
            <a:ext cx="1097280" cy="301752"/>
          </a:xfrm>
          <a:prstGeom prst="rect">
            <a:avLst/>
          </a:prstGeom>
          <a:noFill/>
        </p:spPr>
        <p:txBody>
          <a:bodyPr wrap="square">
            <a:spAutoFit/>
          </a:bodyPr>
          <a:lstStyle/>
          <a:p>
            <a:pPr algn="l">
              <a:defRPr sz="1300" b="0" i="0">
                <a:solidFill>
                  <a:srgbClr val="909090"/>
                </a:solidFill>
                <a:latin typeface="Calibri"/>
              </a:defRPr>
            </a:pPr>
            <a:r>
              <a:t>n=19,620</a:t>
            </a:r>
          </a:p>
        </p:txBody>
      </p:sp>
      <p:sp>
        <p:nvSpPr>
          <p:cNvPr id="11" name="TextBox 10"/>
          <p:cNvSpPr txBox="1"/>
          <p:nvPr/>
        </p:nvSpPr>
        <p:spPr>
          <a:xfrm>
            <a:off x="9784080" y="1664208"/>
            <a:ext cx="914400" cy="301752"/>
          </a:xfrm>
          <a:prstGeom prst="rect">
            <a:avLst/>
          </a:prstGeom>
          <a:noFill/>
        </p:spPr>
        <p:txBody>
          <a:bodyPr wrap="square">
            <a:spAutoFit/>
          </a:bodyPr>
          <a:lstStyle/>
          <a:p>
            <a:pPr algn="l">
              <a:defRPr sz="1400" b="1" i="0">
                <a:solidFill>
                  <a:srgbClr val="EF5350"/>
                </a:solidFill>
                <a:latin typeface="Calibri"/>
              </a:defRPr>
            </a:pPr>
            <a:r>
              <a:t>-0.15</a:t>
            </a:r>
          </a:p>
        </p:txBody>
      </p:sp>
      <p:sp>
        <p:nvSpPr>
          <p:cNvPr id="12" name="TextBox 11"/>
          <p:cNvSpPr txBox="1"/>
          <p:nvPr/>
        </p:nvSpPr>
        <p:spPr>
          <a:xfrm>
            <a:off x="7863840" y="1975104"/>
            <a:ext cx="3657600" cy="274320"/>
          </a:xfrm>
          <a:prstGeom prst="rect">
            <a:avLst/>
          </a:prstGeom>
          <a:noFill/>
        </p:spPr>
        <p:txBody>
          <a:bodyPr wrap="square">
            <a:spAutoFit/>
          </a:bodyPr>
          <a:lstStyle/>
          <a:p>
            <a:pPr algn="l">
              <a:defRPr sz="1200" b="0" i="0">
                <a:solidFill>
                  <a:srgbClr val="909090"/>
                </a:solidFill>
                <a:latin typeface="Calibri"/>
              </a:defRPr>
            </a:pPr>
            <a:r>
              <a:t>Largest cluster</a:t>
            </a:r>
          </a:p>
        </p:txBody>
      </p:sp>
      <p:sp>
        <p:nvSpPr>
          <p:cNvPr id="13" name="Rounded Rectangle 12"/>
          <p:cNvSpPr/>
          <p:nvPr/>
        </p:nvSpPr>
        <p:spPr>
          <a:xfrm>
            <a:off x="7772400" y="2423160"/>
            <a:ext cx="3931920" cy="658368"/>
          </a:xfrm>
          <a:prstGeom prst="roundRect">
            <a:avLst/>
          </a:prstGeom>
          <a:solidFill>
            <a:srgbClr val="FE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441448"/>
            <a:ext cx="822960" cy="301752"/>
          </a:xfrm>
          <a:prstGeom prst="rect">
            <a:avLst/>
          </a:prstGeom>
          <a:noFill/>
        </p:spPr>
        <p:txBody>
          <a:bodyPr wrap="square">
            <a:spAutoFit/>
          </a:bodyPr>
          <a:lstStyle/>
          <a:p>
            <a:pPr algn="l">
              <a:defRPr sz="1400" b="1" i="0">
                <a:solidFill>
                  <a:srgbClr val="2C2C2C"/>
                </a:solidFill>
                <a:latin typeface="Calibri"/>
              </a:defRPr>
            </a:pPr>
            <a:r>
              <a:t>Cl. 1</a:t>
            </a:r>
          </a:p>
        </p:txBody>
      </p:sp>
      <p:sp>
        <p:nvSpPr>
          <p:cNvPr id="15" name="TextBox 14"/>
          <p:cNvSpPr txBox="1"/>
          <p:nvPr/>
        </p:nvSpPr>
        <p:spPr>
          <a:xfrm>
            <a:off x="8686800" y="2441448"/>
            <a:ext cx="1097280" cy="301752"/>
          </a:xfrm>
          <a:prstGeom prst="rect">
            <a:avLst/>
          </a:prstGeom>
          <a:noFill/>
        </p:spPr>
        <p:txBody>
          <a:bodyPr wrap="square">
            <a:spAutoFit/>
          </a:bodyPr>
          <a:lstStyle/>
          <a:p>
            <a:pPr algn="l">
              <a:defRPr sz="1300" b="0" i="0">
                <a:solidFill>
                  <a:srgbClr val="909090"/>
                </a:solidFill>
                <a:latin typeface="Calibri"/>
              </a:defRPr>
            </a:pPr>
            <a:r>
              <a:t>n=17,194</a:t>
            </a:r>
          </a:p>
        </p:txBody>
      </p:sp>
      <p:sp>
        <p:nvSpPr>
          <p:cNvPr id="16" name="TextBox 15"/>
          <p:cNvSpPr txBox="1"/>
          <p:nvPr/>
        </p:nvSpPr>
        <p:spPr>
          <a:xfrm>
            <a:off x="9784080" y="2441448"/>
            <a:ext cx="914400" cy="301752"/>
          </a:xfrm>
          <a:prstGeom prst="rect">
            <a:avLst/>
          </a:prstGeom>
          <a:noFill/>
        </p:spPr>
        <p:txBody>
          <a:bodyPr wrap="square">
            <a:spAutoFit/>
          </a:bodyPr>
          <a:lstStyle/>
          <a:p>
            <a:pPr algn="l">
              <a:defRPr sz="1400" b="1" i="0">
                <a:solidFill>
                  <a:srgbClr val="EF5350"/>
                </a:solidFill>
                <a:latin typeface="Calibri"/>
              </a:defRPr>
            </a:pPr>
            <a:r>
              <a:t>-0.14</a:t>
            </a:r>
          </a:p>
        </p:txBody>
      </p:sp>
      <p:sp>
        <p:nvSpPr>
          <p:cNvPr id="17" name="TextBox 16"/>
          <p:cNvSpPr txBox="1"/>
          <p:nvPr/>
        </p:nvSpPr>
        <p:spPr>
          <a:xfrm>
            <a:off x="7863840" y="2752344"/>
            <a:ext cx="3657600" cy="274320"/>
          </a:xfrm>
          <a:prstGeom prst="rect">
            <a:avLst/>
          </a:prstGeom>
          <a:noFill/>
        </p:spPr>
        <p:txBody>
          <a:bodyPr wrap="square">
            <a:spAutoFit/>
          </a:bodyPr>
          <a:lstStyle/>
          <a:p>
            <a:pPr algn="l">
              <a:defRPr sz="1200" b="0" i="0">
                <a:solidFill>
                  <a:srgbClr val="909090"/>
                </a:solidFill>
                <a:latin typeface="Calibri"/>
              </a:defRPr>
            </a:pPr>
            <a:r>
              <a:t>Second largest</a:t>
            </a:r>
          </a:p>
        </p:txBody>
      </p:sp>
      <p:sp>
        <p:nvSpPr>
          <p:cNvPr id="18" name="Rounded Rectangle 17"/>
          <p:cNvSpPr/>
          <p:nvPr/>
        </p:nvSpPr>
        <p:spPr>
          <a:xfrm>
            <a:off x="7772400" y="3200400"/>
            <a:ext cx="3931920" cy="65836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218688"/>
            <a:ext cx="822960" cy="301752"/>
          </a:xfrm>
          <a:prstGeom prst="rect">
            <a:avLst/>
          </a:prstGeom>
          <a:noFill/>
        </p:spPr>
        <p:txBody>
          <a:bodyPr wrap="square">
            <a:spAutoFit/>
          </a:bodyPr>
          <a:lstStyle/>
          <a:p>
            <a:pPr algn="l">
              <a:defRPr sz="1400" b="1" i="0">
                <a:solidFill>
                  <a:srgbClr val="2C2C2C"/>
                </a:solidFill>
                <a:latin typeface="Calibri"/>
              </a:defRPr>
            </a:pPr>
            <a:r>
              <a:t>Cl. 2</a:t>
            </a:r>
          </a:p>
        </p:txBody>
      </p:sp>
      <p:sp>
        <p:nvSpPr>
          <p:cNvPr id="20" name="TextBox 19"/>
          <p:cNvSpPr txBox="1"/>
          <p:nvPr/>
        </p:nvSpPr>
        <p:spPr>
          <a:xfrm>
            <a:off x="8686800" y="3218688"/>
            <a:ext cx="1097280" cy="301752"/>
          </a:xfrm>
          <a:prstGeom prst="rect">
            <a:avLst/>
          </a:prstGeom>
          <a:noFill/>
        </p:spPr>
        <p:txBody>
          <a:bodyPr wrap="square">
            <a:spAutoFit/>
          </a:bodyPr>
          <a:lstStyle/>
          <a:p>
            <a:pPr algn="l">
              <a:defRPr sz="1300" b="0" i="0">
                <a:solidFill>
                  <a:srgbClr val="909090"/>
                </a:solidFill>
                <a:latin typeface="Calibri"/>
              </a:defRPr>
            </a:pPr>
            <a:r>
              <a:t>n=9,211</a:t>
            </a:r>
          </a:p>
        </p:txBody>
      </p:sp>
      <p:sp>
        <p:nvSpPr>
          <p:cNvPr id="21" name="TextBox 20"/>
          <p:cNvSpPr txBox="1"/>
          <p:nvPr/>
        </p:nvSpPr>
        <p:spPr>
          <a:xfrm>
            <a:off x="9784080" y="3218688"/>
            <a:ext cx="914400" cy="301752"/>
          </a:xfrm>
          <a:prstGeom prst="rect">
            <a:avLst/>
          </a:prstGeom>
          <a:noFill/>
        </p:spPr>
        <p:txBody>
          <a:bodyPr wrap="square">
            <a:spAutoFit/>
          </a:bodyPr>
          <a:lstStyle/>
          <a:p>
            <a:pPr algn="l">
              <a:defRPr sz="1400" b="1" i="0">
                <a:solidFill>
                  <a:srgbClr val="EF5350"/>
                </a:solidFill>
                <a:latin typeface="Calibri"/>
              </a:defRPr>
            </a:pPr>
            <a:r>
              <a:t>-0.34</a:t>
            </a:r>
          </a:p>
        </p:txBody>
      </p:sp>
      <p:sp>
        <p:nvSpPr>
          <p:cNvPr id="22" name="TextBox 21"/>
          <p:cNvSpPr txBox="1"/>
          <p:nvPr/>
        </p:nvSpPr>
        <p:spPr>
          <a:xfrm>
            <a:off x="7863840" y="3529584"/>
            <a:ext cx="3657600" cy="274320"/>
          </a:xfrm>
          <a:prstGeom prst="rect">
            <a:avLst/>
          </a:prstGeom>
          <a:noFill/>
        </p:spPr>
        <p:txBody>
          <a:bodyPr wrap="square">
            <a:spAutoFit/>
          </a:bodyPr>
          <a:lstStyle/>
          <a:p>
            <a:pPr algn="l">
              <a:defRPr sz="1200" b="0" i="0">
                <a:solidFill>
                  <a:srgbClr val="909090"/>
                </a:solidFill>
                <a:latin typeface="Calibri"/>
              </a:defRPr>
            </a:pPr>
            <a:r>
              <a:t>High sensitivity</a:t>
            </a:r>
          </a:p>
        </p:txBody>
      </p:sp>
      <p:sp>
        <p:nvSpPr>
          <p:cNvPr id="23" name="Rounded Rectangle 22"/>
          <p:cNvSpPr/>
          <p:nvPr/>
        </p:nvSpPr>
        <p:spPr>
          <a:xfrm>
            <a:off x="7772400" y="3977639"/>
            <a:ext cx="3931920" cy="658368"/>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3995927"/>
            <a:ext cx="822960" cy="301752"/>
          </a:xfrm>
          <a:prstGeom prst="rect">
            <a:avLst/>
          </a:prstGeom>
          <a:noFill/>
        </p:spPr>
        <p:txBody>
          <a:bodyPr wrap="square">
            <a:spAutoFit/>
          </a:bodyPr>
          <a:lstStyle/>
          <a:p>
            <a:pPr algn="l">
              <a:defRPr sz="1400" b="1" i="0">
                <a:solidFill>
                  <a:srgbClr val="2C2C2C"/>
                </a:solidFill>
                <a:latin typeface="Calibri"/>
              </a:defRPr>
            </a:pPr>
            <a:r>
              <a:t>Cl. 3</a:t>
            </a:r>
          </a:p>
        </p:txBody>
      </p:sp>
      <p:sp>
        <p:nvSpPr>
          <p:cNvPr id="25" name="TextBox 24"/>
          <p:cNvSpPr txBox="1"/>
          <p:nvPr/>
        </p:nvSpPr>
        <p:spPr>
          <a:xfrm>
            <a:off x="8686800" y="3995927"/>
            <a:ext cx="1097280" cy="301752"/>
          </a:xfrm>
          <a:prstGeom prst="rect">
            <a:avLst/>
          </a:prstGeom>
          <a:noFill/>
        </p:spPr>
        <p:txBody>
          <a:bodyPr wrap="square">
            <a:spAutoFit/>
          </a:bodyPr>
          <a:lstStyle/>
          <a:p>
            <a:pPr algn="l">
              <a:defRPr sz="1300" b="0" i="0">
                <a:solidFill>
                  <a:srgbClr val="909090"/>
                </a:solidFill>
                <a:latin typeface="Calibri"/>
              </a:defRPr>
            </a:pPr>
            <a:r>
              <a:t>n=9,026</a:t>
            </a:r>
          </a:p>
        </p:txBody>
      </p:sp>
      <p:sp>
        <p:nvSpPr>
          <p:cNvPr id="26" name="TextBox 25"/>
          <p:cNvSpPr txBox="1"/>
          <p:nvPr/>
        </p:nvSpPr>
        <p:spPr>
          <a:xfrm>
            <a:off x="9784080" y="3995927"/>
            <a:ext cx="914400" cy="301752"/>
          </a:xfrm>
          <a:prstGeom prst="rect">
            <a:avLst/>
          </a:prstGeom>
          <a:noFill/>
        </p:spPr>
        <p:txBody>
          <a:bodyPr wrap="square">
            <a:spAutoFit/>
          </a:bodyPr>
          <a:lstStyle/>
          <a:p>
            <a:pPr algn="l">
              <a:defRPr sz="1400" b="1" i="0">
                <a:solidFill>
                  <a:srgbClr val="EF5350"/>
                </a:solidFill>
                <a:latin typeface="Calibri"/>
              </a:defRPr>
            </a:pPr>
            <a:r>
              <a:t>-0.14</a:t>
            </a:r>
          </a:p>
        </p:txBody>
      </p:sp>
      <p:sp>
        <p:nvSpPr>
          <p:cNvPr id="27" name="TextBox 26"/>
          <p:cNvSpPr txBox="1"/>
          <p:nvPr/>
        </p:nvSpPr>
        <p:spPr>
          <a:xfrm>
            <a:off x="7863840" y="4306823"/>
            <a:ext cx="3657600" cy="274320"/>
          </a:xfrm>
          <a:prstGeom prst="rect">
            <a:avLst/>
          </a:prstGeom>
          <a:noFill/>
        </p:spPr>
        <p:txBody>
          <a:bodyPr wrap="square">
            <a:spAutoFit/>
          </a:bodyPr>
          <a:lstStyle/>
          <a:p>
            <a:pPr algn="l">
              <a:defRPr sz="1200" b="0" i="0">
                <a:solidFill>
                  <a:srgbClr val="909090"/>
                </a:solidFill>
                <a:latin typeface="Calibri"/>
              </a:defRPr>
            </a:pPr>
            <a:r>
              <a:t>Moderate</a:t>
            </a:r>
          </a:p>
        </p:txBody>
      </p:sp>
      <p:sp>
        <p:nvSpPr>
          <p:cNvPr id="28" name="Rounded Rectangle 27"/>
          <p:cNvSpPr/>
          <p:nvPr/>
        </p:nvSpPr>
        <p:spPr>
          <a:xfrm>
            <a:off x="7772400" y="4754880"/>
            <a:ext cx="3931920" cy="65836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4773168"/>
            <a:ext cx="822960" cy="301752"/>
          </a:xfrm>
          <a:prstGeom prst="rect">
            <a:avLst/>
          </a:prstGeom>
          <a:noFill/>
        </p:spPr>
        <p:txBody>
          <a:bodyPr wrap="square">
            <a:spAutoFit/>
          </a:bodyPr>
          <a:lstStyle/>
          <a:p>
            <a:pPr algn="l">
              <a:defRPr sz="1400" b="1" i="0">
                <a:solidFill>
                  <a:srgbClr val="2C2C2C"/>
                </a:solidFill>
                <a:latin typeface="Calibri"/>
              </a:defRPr>
            </a:pPr>
            <a:r>
              <a:t>Cl. 4</a:t>
            </a:r>
          </a:p>
        </p:txBody>
      </p:sp>
      <p:sp>
        <p:nvSpPr>
          <p:cNvPr id="30" name="TextBox 29"/>
          <p:cNvSpPr txBox="1"/>
          <p:nvPr/>
        </p:nvSpPr>
        <p:spPr>
          <a:xfrm>
            <a:off x="8686800" y="4773168"/>
            <a:ext cx="1097280" cy="301752"/>
          </a:xfrm>
          <a:prstGeom prst="rect">
            <a:avLst/>
          </a:prstGeom>
          <a:noFill/>
        </p:spPr>
        <p:txBody>
          <a:bodyPr wrap="square">
            <a:spAutoFit/>
          </a:bodyPr>
          <a:lstStyle/>
          <a:p>
            <a:pPr algn="l">
              <a:defRPr sz="1300" b="0" i="0">
                <a:solidFill>
                  <a:srgbClr val="909090"/>
                </a:solidFill>
                <a:latin typeface="Calibri"/>
              </a:defRPr>
            </a:pPr>
            <a:r>
              <a:t>n=4,927</a:t>
            </a:r>
          </a:p>
        </p:txBody>
      </p:sp>
      <p:sp>
        <p:nvSpPr>
          <p:cNvPr id="31" name="TextBox 30"/>
          <p:cNvSpPr txBox="1"/>
          <p:nvPr/>
        </p:nvSpPr>
        <p:spPr>
          <a:xfrm>
            <a:off x="9784080" y="4773168"/>
            <a:ext cx="914400" cy="301752"/>
          </a:xfrm>
          <a:prstGeom prst="rect">
            <a:avLst/>
          </a:prstGeom>
          <a:noFill/>
        </p:spPr>
        <p:txBody>
          <a:bodyPr wrap="square">
            <a:spAutoFit/>
          </a:bodyPr>
          <a:lstStyle/>
          <a:p>
            <a:pPr algn="l">
              <a:defRPr sz="1400" b="1" i="0">
                <a:solidFill>
                  <a:srgbClr val="EF5350"/>
                </a:solidFill>
                <a:latin typeface="Calibri"/>
              </a:defRPr>
            </a:pPr>
            <a:r>
              <a:t>-0.43</a:t>
            </a:r>
          </a:p>
        </p:txBody>
      </p:sp>
      <p:sp>
        <p:nvSpPr>
          <p:cNvPr id="32" name="TextBox 31"/>
          <p:cNvSpPr txBox="1"/>
          <p:nvPr/>
        </p:nvSpPr>
        <p:spPr>
          <a:xfrm>
            <a:off x="7863840" y="5084064"/>
            <a:ext cx="3657600" cy="274320"/>
          </a:xfrm>
          <a:prstGeom prst="rect">
            <a:avLst/>
          </a:prstGeom>
          <a:noFill/>
        </p:spPr>
        <p:txBody>
          <a:bodyPr wrap="square">
            <a:spAutoFit/>
          </a:bodyPr>
          <a:lstStyle/>
          <a:p>
            <a:pPr algn="l">
              <a:defRPr sz="1200" b="0" i="0">
                <a:solidFill>
                  <a:srgbClr val="909090"/>
                </a:solidFill>
                <a:latin typeface="Calibri"/>
              </a:defRPr>
            </a:pPr>
            <a:r>
              <a:t>Most elastic</a:t>
            </a:r>
          </a:p>
        </p:txBody>
      </p:sp>
      <p:sp>
        <p:nvSpPr>
          <p:cNvPr id="33" name="Rounded Rectangle 32"/>
          <p:cNvSpPr/>
          <p:nvPr/>
        </p:nvSpPr>
        <p:spPr>
          <a:xfrm>
            <a:off x="7772400" y="5577840"/>
            <a:ext cx="3931920" cy="640080"/>
          </a:xfrm>
          <a:prstGeom prst="round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0" y="5623560"/>
            <a:ext cx="3749039" cy="548640"/>
          </a:xfrm>
          <a:prstGeom prst="rect">
            <a:avLst/>
          </a:prstGeom>
          <a:noFill/>
        </p:spPr>
        <p:txBody>
          <a:bodyPr wrap="square">
            <a:spAutoFit/>
          </a:bodyPr>
          <a:lstStyle/>
          <a:p>
            <a:pPr algn="ctr">
              <a:defRPr sz="1400" b="1" i="0">
                <a:solidFill>
                  <a:srgbClr val="FFFFFF"/>
                </a:solidFill>
                <a:latin typeface="Calibri"/>
              </a:defRPr>
            </a:pPr>
            <a:r>
              <a:t>Cluster 4 (smallest) shows strongest</a:t>
            </a:r>
            <a:br/>
            <a:r>
              <a:t>price sensitivity at CATE = -0.43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